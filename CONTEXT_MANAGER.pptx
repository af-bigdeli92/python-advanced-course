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8" r:id="rId1"/>
  </p:sldMasterIdLst>
  <p:sldIdLst>
    <p:sldId id="256" r:id="rId2"/>
    <p:sldId id="257" r:id="rId3"/>
    <p:sldId id="258" r:id="rId4"/>
    <p:sldId id="261" r:id="rId5"/>
    <p:sldId id="262" r:id="rId6"/>
    <p:sldId id="266" r:id="rId7"/>
    <p:sldId id="267" r:id="rId8"/>
    <p:sldId id="268" r:id="rId9"/>
    <p:sldId id="270" r:id="rId10"/>
    <p:sldId id="280" r:id="rId11"/>
    <p:sldId id="281" r:id="rId12"/>
    <p:sldId id="282" r:id="rId13"/>
    <p:sldId id="283" r:id="rId14"/>
    <p:sldId id="264" r:id="rId15"/>
    <p:sldId id="26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3041"/>
    <a:srgbClr val="2A2B42"/>
    <a:srgbClr val="1A2136"/>
    <a:srgbClr val="924C3E"/>
    <a:srgbClr val="94423C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754" autoAdjust="0"/>
    <p:restoredTop sz="94660"/>
  </p:normalViewPr>
  <p:slideViewPr>
    <p:cSldViewPr snapToGrid="0" snapToObjects="1">
      <p:cViewPr varScale="1">
        <p:scale>
          <a:sx n="51" d="100"/>
          <a:sy n="51" d="100"/>
        </p:scale>
        <p:origin x="38" y="5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5973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362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1137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18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405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971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222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242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384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792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222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770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2520" y="2413084"/>
            <a:ext cx="9966960" cy="1312963"/>
          </a:xfrm>
        </p:spPr>
        <p:txBody>
          <a:bodyPr>
            <a:normAutofit/>
          </a:bodyPr>
          <a:lstStyle/>
          <a:p>
            <a:r>
              <a:rPr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Context Manager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4022634"/>
            <a:ext cx="8767860" cy="1388165"/>
          </a:xfrm>
        </p:spPr>
        <p:txBody>
          <a:bodyPr/>
          <a:lstStyle/>
          <a:p>
            <a:r>
              <a:rPr dirty="0"/>
              <a:t>Managing Resources Safely and Efficiently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a Context Manager?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n-US" dirty="0"/>
              <a:t>A </a:t>
            </a:r>
            <a:r>
              <a:rPr lang="en-US" b="1" dirty="0"/>
              <a:t>context manager</a:t>
            </a:r>
            <a:r>
              <a:rPr lang="en-US" dirty="0"/>
              <a:t> is a Python tool that </a:t>
            </a:r>
            <a:r>
              <a:rPr lang="en-US" b="1" dirty="0"/>
              <a:t>automatically manages resources</a:t>
            </a:r>
            <a:r>
              <a:rPr lang="en-US" dirty="0"/>
              <a:t>, like files, network connections, or locks.</a:t>
            </a:r>
          </a:p>
          <a:p>
            <a:r>
              <a:rPr lang="en-US" dirty="0"/>
              <a:t>Ensures resources are released after use.</a:t>
            </a:r>
          </a:p>
          <a:p>
            <a:r>
              <a:rPr dirty="0"/>
              <a:t>Prevents resource leaks and makes code cleaner.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Example: File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818" y="1629556"/>
            <a:ext cx="4950351" cy="1218575"/>
          </a:xfrm>
        </p:spPr>
        <p:txBody>
          <a:bodyPr/>
          <a:lstStyle/>
          <a:p>
            <a:endParaRPr dirty="0"/>
          </a:p>
          <a:p>
            <a:r>
              <a:rPr dirty="0"/>
              <a:t>Without context manager: must </a:t>
            </a:r>
            <a:r>
              <a:rPr b="1" dirty="0"/>
              <a:t>manually close file</a:t>
            </a:r>
            <a:r>
              <a:rPr dirty="0"/>
              <a:t>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8A0A9C-3790-43AE-A8D5-D0A7D29743B7}"/>
              </a:ext>
            </a:extLst>
          </p:cNvPr>
          <p:cNvSpPr txBox="1">
            <a:spLocks/>
          </p:cNvSpPr>
          <p:nvPr/>
        </p:nvSpPr>
        <p:spPr>
          <a:xfrm>
            <a:off x="6317255" y="1640174"/>
            <a:ext cx="4950351" cy="1218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/>
              <a:t>With context manager: </a:t>
            </a:r>
            <a:r>
              <a:rPr lang="en-US" b="1" dirty="0"/>
              <a:t>file</a:t>
            </a:r>
            <a:r>
              <a:rPr lang="en-US" dirty="0"/>
              <a:t> </a:t>
            </a:r>
            <a:r>
              <a:rPr lang="en-US" b="1" dirty="0"/>
              <a:t>closes automatically, even on errors</a:t>
            </a:r>
            <a:r>
              <a:rPr lang="en-US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431F46-6173-43D7-875A-632BB4B74174}"/>
              </a:ext>
            </a:extLst>
          </p:cNvPr>
          <p:cNvSpPr txBox="1"/>
          <p:nvPr/>
        </p:nvSpPr>
        <p:spPr>
          <a:xfrm>
            <a:off x="1143000" y="3474118"/>
            <a:ext cx="4118547" cy="17543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"example.txt"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"Hello, world!"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finally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F4BFA1-8BC1-47A4-B4A4-50DC649B4991}"/>
              </a:ext>
            </a:extLst>
          </p:cNvPr>
          <p:cNvSpPr txBox="1"/>
          <p:nvPr/>
        </p:nvSpPr>
        <p:spPr>
          <a:xfrm>
            <a:off x="6317255" y="3751116"/>
            <a:ext cx="4118547" cy="12003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"example.txt"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"Hello, world!"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Context Managers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lnSpc>
                <a:spcPct val="150000"/>
              </a:lnSpc>
            </a:pPr>
            <a:r>
              <a:rPr lang="en-US" dirty="0"/>
              <a:t>A context manager is any object that implements two special methods:</a:t>
            </a:r>
            <a:endParaRPr dirty="0"/>
          </a:p>
          <a:p>
            <a:pPr marL="502920" indent="-457200">
              <a:buSzPct val="120000"/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__enter__(self) </a:t>
            </a:r>
            <a:r>
              <a:rPr lang="en-US" dirty="0"/>
              <a:t>→ runs at the start of the </a:t>
            </a:r>
            <a:r>
              <a:rPr lang="en-US" dirty="0">
                <a:highlight>
                  <a:srgbClr val="C0C0C0"/>
                </a:highlight>
              </a:rPr>
              <a:t>with</a:t>
            </a:r>
            <a:r>
              <a:rPr lang="en-US" dirty="0"/>
              <a:t> block. Returns a resource (like a file object).</a:t>
            </a:r>
          </a:p>
          <a:p>
            <a:pPr marL="502920" indent="-457200">
              <a:buSzPct val="120000"/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__exit__(self, </a:t>
            </a:r>
            <a:r>
              <a:rPr lang="en-US" dirty="0" err="1">
                <a:highlight>
                  <a:srgbClr val="C0C0C0"/>
                </a:highlight>
              </a:rPr>
              <a:t>exc_type</a:t>
            </a:r>
            <a:r>
              <a:rPr lang="en-US" dirty="0">
                <a:highlight>
                  <a:srgbClr val="C0C0C0"/>
                </a:highlight>
              </a:rPr>
              <a:t>, </a:t>
            </a:r>
            <a:r>
              <a:rPr lang="en-US" dirty="0" err="1">
                <a:highlight>
                  <a:srgbClr val="C0C0C0"/>
                </a:highlight>
              </a:rPr>
              <a:t>exc_value</a:t>
            </a:r>
            <a:r>
              <a:rPr lang="en-US" dirty="0">
                <a:highlight>
                  <a:srgbClr val="C0C0C0"/>
                </a:highlight>
              </a:rPr>
              <a:t>, traceback) </a:t>
            </a:r>
            <a:r>
              <a:rPr lang="en-US" dirty="0"/>
              <a:t>→ runs at the end of the with block, even if there’s an error. Handles cleanup.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18" y="459698"/>
            <a:ext cx="9875520" cy="1356360"/>
          </a:xfrm>
        </p:spPr>
        <p:txBody>
          <a:bodyPr/>
          <a:lstStyle/>
          <a:p>
            <a:r>
              <a:rPr dirty="0"/>
              <a:t>Custom Context Manage</a:t>
            </a:r>
            <a:r>
              <a:rPr lang="en-US" dirty="0"/>
              <a:t>r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721178-B37B-4D58-AF4D-12C3649901F6}"/>
              </a:ext>
            </a:extLst>
          </p:cNvPr>
          <p:cNvSpPr txBox="1"/>
          <p:nvPr/>
        </p:nvSpPr>
        <p:spPr>
          <a:xfrm>
            <a:off x="2087755" y="1965960"/>
            <a:ext cx="7986010" cy="397031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MyContext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__enter__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"Entering the block"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"some resource"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__exit__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exc_type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exc_value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traceback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"Exiting the block"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exc_type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"An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exception occurred: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exc_value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suppress exception if you want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MyContext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resource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"Inside the block:"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resource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raise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ValueError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("Oops!")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18" y="459698"/>
            <a:ext cx="9875520" cy="1356360"/>
          </a:xfrm>
        </p:spPr>
        <p:txBody>
          <a:bodyPr>
            <a:normAutofit/>
          </a:bodyPr>
          <a:lstStyle/>
          <a:p>
            <a:pPr marL="45720">
              <a:buSzPct val="120000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__enter__(self)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721178-B37B-4D58-AF4D-12C3649901F6}"/>
              </a:ext>
            </a:extLst>
          </p:cNvPr>
          <p:cNvSpPr txBox="1"/>
          <p:nvPr/>
        </p:nvSpPr>
        <p:spPr>
          <a:xfrm>
            <a:off x="5586085" y="1905576"/>
            <a:ext cx="5916991" cy="400109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MyContext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__enter__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"Entering the block"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"some resource"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chemeClr val="tx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chemeClr val="tx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def __exit__(self, </a:t>
            </a:r>
            <a:r>
              <a:rPr lang="en-US" sz="1400" b="0" dirty="0" err="1">
                <a:solidFill>
                  <a:schemeClr val="tx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exc_type</a:t>
            </a:r>
            <a:r>
              <a:rPr lang="en-US" sz="1400" b="0" dirty="0">
                <a:solidFill>
                  <a:schemeClr val="tx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chemeClr val="tx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exc_value</a:t>
            </a:r>
            <a:r>
              <a:rPr lang="en-US" sz="1400" b="0" dirty="0">
                <a:solidFill>
                  <a:schemeClr val="tx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, traceback):</a:t>
            </a:r>
          </a:p>
          <a:p>
            <a:r>
              <a:rPr lang="en-US" sz="1400" b="0" dirty="0">
                <a:solidFill>
                  <a:schemeClr val="tx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    print("Exiting the block")</a:t>
            </a:r>
          </a:p>
          <a:p>
            <a:r>
              <a:rPr lang="en-US" sz="1400" b="0" dirty="0">
                <a:solidFill>
                  <a:schemeClr val="tx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    if </a:t>
            </a:r>
            <a:r>
              <a:rPr lang="en-US" sz="1400" b="0" dirty="0" err="1">
                <a:solidFill>
                  <a:schemeClr val="tx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exc_type</a:t>
            </a:r>
            <a:r>
              <a:rPr lang="en-US" sz="1400" b="0" dirty="0">
                <a:solidFill>
                  <a:schemeClr val="tx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400" b="0" dirty="0">
                <a:solidFill>
                  <a:schemeClr val="tx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        print(</a:t>
            </a:r>
            <a:r>
              <a:rPr lang="en-US" sz="1400" b="0" dirty="0" err="1">
                <a:solidFill>
                  <a:schemeClr val="tx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f"An</a:t>
            </a:r>
            <a:r>
              <a:rPr lang="en-US" sz="1400" b="0" dirty="0">
                <a:solidFill>
                  <a:schemeClr val="tx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 exception occurred: {</a:t>
            </a:r>
            <a:r>
              <a:rPr lang="en-US" sz="1400" b="0" dirty="0" err="1">
                <a:solidFill>
                  <a:schemeClr val="tx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exc_value</a:t>
            </a:r>
            <a:r>
              <a:rPr lang="en-US" sz="1400" b="0" dirty="0">
                <a:solidFill>
                  <a:schemeClr val="tx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}")</a:t>
            </a:r>
          </a:p>
          <a:p>
            <a:r>
              <a:rPr lang="en-US" sz="1400" b="0" dirty="0">
                <a:solidFill>
                  <a:schemeClr val="tx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    return True  # suppress exception if you want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MyContext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resource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"Inside the block:"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resource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raise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ValueError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("Oops!")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0502B8-19F4-42CA-B2F4-A01DF40372B9}"/>
              </a:ext>
            </a:extLst>
          </p:cNvPr>
          <p:cNvSpPr txBox="1"/>
          <p:nvPr/>
        </p:nvSpPr>
        <p:spPr>
          <a:xfrm>
            <a:off x="963118" y="2401950"/>
            <a:ext cx="435839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200" dirty="0"/>
              <a:t>runs at the start of the </a:t>
            </a:r>
            <a:r>
              <a:rPr lang="en-US" sz="2200" dirty="0">
                <a:highlight>
                  <a:srgbClr val="C0C0C0"/>
                </a:highlight>
              </a:rPr>
              <a:t>with</a:t>
            </a:r>
            <a:r>
              <a:rPr lang="en-US" sz="2200" dirty="0"/>
              <a:t> block. Returns a resource (like a file object).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E354F8-105C-4711-8096-8F2E1075A110}"/>
              </a:ext>
            </a:extLst>
          </p:cNvPr>
          <p:cNvSpPr/>
          <p:nvPr/>
        </p:nvSpPr>
        <p:spPr>
          <a:xfrm>
            <a:off x="5891509" y="2400674"/>
            <a:ext cx="4517286" cy="1109272"/>
          </a:xfrm>
          <a:prstGeom prst="rect">
            <a:avLst/>
          </a:prstGeom>
          <a:noFill/>
          <a:ln w="28575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824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519" y="459698"/>
            <a:ext cx="9875520" cy="1356360"/>
          </a:xfrm>
        </p:spPr>
        <p:txBody>
          <a:bodyPr>
            <a:normAutofit/>
          </a:bodyPr>
          <a:lstStyle/>
          <a:p>
            <a:pPr marL="45720">
              <a:buSzPct val="120000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__exit__(self, …)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721178-B37B-4D58-AF4D-12C3649901F6}"/>
              </a:ext>
            </a:extLst>
          </p:cNvPr>
          <p:cNvSpPr txBox="1"/>
          <p:nvPr/>
        </p:nvSpPr>
        <p:spPr>
          <a:xfrm>
            <a:off x="4181442" y="1816058"/>
            <a:ext cx="7470722" cy="387798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MyContext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chemeClr val="tx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def __enter__(self):</a:t>
            </a:r>
          </a:p>
          <a:p>
            <a:r>
              <a:rPr lang="en-US" sz="1400" b="0" dirty="0">
                <a:solidFill>
                  <a:schemeClr val="tx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    print("Entering the block")</a:t>
            </a:r>
          </a:p>
          <a:p>
            <a:r>
              <a:rPr lang="en-US" sz="1400" b="0" dirty="0">
                <a:solidFill>
                  <a:schemeClr val="tx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    return "some resource"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chemeClr val="tx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__exit__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exc_type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exc_value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traceback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"Exiting the block"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exc_type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exception occurred: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exc_value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MyContext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resource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"Inside the block:"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resource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raise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ValueError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("Oops!")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0502B8-19F4-42CA-B2F4-A01DF40372B9}"/>
              </a:ext>
            </a:extLst>
          </p:cNvPr>
          <p:cNvSpPr txBox="1"/>
          <p:nvPr/>
        </p:nvSpPr>
        <p:spPr>
          <a:xfrm>
            <a:off x="682519" y="3263333"/>
            <a:ext cx="319374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runs at the end of the with block, even if there’s an error. Handles cleanup.</a:t>
            </a:r>
            <a:endParaRPr lang="en-US" sz="2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E354F8-105C-4711-8096-8F2E1075A110}"/>
              </a:ext>
            </a:extLst>
          </p:cNvPr>
          <p:cNvSpPr/>
          <p:nvPr/>
        </p:nvSpPr>
        <p:spPr>
          <a:xfrm>
            <a:off x="4659056" y="3081030"/>
            <a:ext cx="6770943" cy="1509315"/>
          </a:xfrm>
          <a:prstGeom prst="rect">
            <a:avLst/>
          </a:prstGeom>
          <a:noFill/>
          <a:ln w="28575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640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519" y="459698"/>
            <a:ext cx="9875520" cy="1356360"/>
          </a:xfrm>
        </p:spPr>
        <p:txBody>
          <a:bodyPr>
            <a:normAutofit/>
          </a:bodyPr>
          <a:lstStyle/>
          <a:p>
            <a:pPr marL="45720">
              <a:buSzPct val="120000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__exit__(self, …)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721178-B37B-4D58-AF4D-12C3649901F6}"/>
              </a:ext>
            </a:extLst>
          </p:cNvPr>
          <p:cNvSpPr txBox="1"/>
          <p:nvPr/>
        </p:nvSpPr>
        <p:spPr>
          <a:xfrm>
            <a:off x="1086787" y="1883349"/>
            <a:ext cx="9683646" cy="46166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__exit__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exc_type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exc_value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traceback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 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747A00-2A7B-4093-984E-40E95C2FA437}"/>
              </a:ext>
            </a:extLst>
          </p:cNvPr>
          <p:cNvSpPr txBox="1"/>
          <p:nvPr/>
        </p:nvSpPr>
        <p:spPr>
          <a:xfrm>
            <a:off x="4107306" y="2794939"/>
            <a:ext cx="54863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let your context manager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 differently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an exception happens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479EBB-B8E2-4E9A-A922-314F170C5F7B}"/>
              </a:ext>
            </a:extLst>
          </p:cNvPr>
          <p:cNvSpPr/>
          <p:nvPr/>
        </p:nvSpPr>
        <p:spPr>
          <a:xfrm>
            <a:off x="4334270" y="1696138"/>
            <a:ext cx="5259435" cy="946018"/>
          </a:xfrm>
          <a:prstGeom prst="rect">
            <a:avLst/>
          </a:prstGeom>
          <a:noFill/>
          <a:ln w="28575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840438-7364-4A8D-AB25-0ED213862AB3}"/>
              </a:ext>
            </a:extLst>
          </p:cNvPr>
          <p:cNvSpPr txBox="1"/>
          <p:nvPr/>
        </p:nvSpPr>
        <p:spPr>
          <a:xfrm>
            <a:off x="1086787" y="3718504"/>
            <a:ext cx="9811062" cy="1735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database library might raise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Arial Unicode MS"/>
              </a:rPr>
              <a:t>DatabaseError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if the query fails.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file operation might raise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Arial Unicode MS"/>
              </a:rPr>
              <a:t>FileNotFoundError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Arial Unicode MS"/>
              </a:rPr>
              <a:t>PermissionError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network call might raise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Arial Unicode MS"/>
              </a:rPr>
              <a:t>TimeoutError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4265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02548C1-24BE-4B5E-848F-071CE96DD2C0}"/>
              </a:ext>
            </a:extLst>
          </p:cNvPr>
          <p:cNvSpPr/>
          <p:nvPr/>
        </p:nvSpPr>
        <p:spPr>
          <a:xfrm>
            <a:off x="1633929" y="719528"/>
            <a:ext cx="8649324" cy="74950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721178-B37B-4D58-AF4D-12C3649901F6}"/>
              </a:ext>
            </a:extLst>
          </p:cNvPr>
          <p:cNvSpPr txBox="1"/>
          <p:nvPr/>
        </p:nvSpPr>
        <p:spPr>
          <a:xfrm>
            <a:off x="1086787" y="834038"/>
            <a:ext cx="98110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__exit__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exc_type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exc_value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traceback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 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46E232B-C9E7-4062-A996-83FD94525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2310" y="2082629"/>
            <a:ext cx="9707380" cy="204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Whenever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any exception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raised inside the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with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block, Python automatically calls the context manager’s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Arial Unicode MS"/>
              </a:rPr>
              <a:t>__exit__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method with </a:t>
            </a:r>
            <a:r>
              <a:rPr kumimoji="0" lang="en-US" altLang="en-US" sz="20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details about that exception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25475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Arial Unicode MS"/>
              </a:rPr>
              <a:t>exc_type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the exception class (e.g.,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ValueError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FileNotFoundError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25475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Arial Unicode MS"/>
              </a:rPr>
              <a:t>exc_value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the actual exception object (the error message).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25475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Arial Unicode MS"/>
              </a:rPr>
              <a:t>traceback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where the error happened.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AD147A-85A4-43FB-BC8E-0EB4B9F71C55}"/>
              </a:ext>
            </a:extLst>
          </p:cNvPr>
          <p:cNvSpPr txBox="1"/>
          <p:nvPr/>
        </p:nvSpPr>
        <p:spPr>
          <a:xfrm>
            <a:off x="1242310" y="4566077"/>
            <a:ext cx="9707380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Then you can decide:</a:t>
            </a:r>
          </a:p>
          <a:p>
            <a:pPr marL="625475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C0C0C0"/>
                </a:highlight>
                <a:uLnTx/>
                <a:uFillTx/>
                <a:ea typeface="+mn-ea"/>
                <a:cs typeface="+mn-cs"/>
              </a:rPr>
              <a:t>return False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lang="en-US" b="0" i="0" kern="1200" spc="0" baseline="0" dirty="0">
                <a:ln>
                  <a:noFill/>
                </a:ln>
                <a:solidFill>
                  <a:srgbClr val="000000"/>
                </a:solidFill>
                <a:effectLst/>
                <a:ea typeface="+mn-ea"/>
                <a:cs typeface="+mn-cs"/>
              </a:rPr>
              <a:t>→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The error is not hidden. Cleanup happens, then Python shows the error as usual. (</a:t>
            </a:r>
            <a:r>
              <a:rPr lang="en-US" dirty="0"/>
              <a:t>most common and recommended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</a:p>
          <a:p>
            <a:pPr marL="625475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C0C0C0"/>
                </a:highlight>
                <a:uLnTx/>
                <a:uFillTx/>
                <a:ea typeface="+mn-ea"/>
                <a:cs typeface="+mn-cs"/>
              </a:rPr>
              <a:t>return True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→ </a:t>
            </a:r>
            <a:r>
              <a:rPr lang="en-US" dirty="0"/>
              <a:t>The error is </a:t>
            </a:r>
            <a:r>
              <a:rPr lang="en-US" b="1" dirty="0"/>
              <a:t>hidden</a:t>
            </a:r>
            <a:r>
              <a:rPr lang="en-US" dirty="0"/>
              <a:t> (suppressed). Cleanup happens, but Python pretends no error occurred. </a:t>
            </a:r>
          </a:p>
        </p:txBody>
      </p:sp>
    </p:spTree>
    <p:extLst>
      <p:ext uri="{BB962C8B-B14F-4D97-AF65-F5344CB8AC3E}">
        <p14:creationId xmlns:p14="http://schemas.microsoft.com/office/powerpoint/2010/main" val="2071269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404" y="459440"/>
            <a:ext cx="9875520" cy="1356360"/>
          </a:xfrm>
        </p:spPr>
        <p:txBody>
          <a:bodyPr/>
          <a:lstStyle/>
          <a:p>
            <a:r>
              <a:rPr dirty="0"/>
              <a:t>Creating a</a:t>
            </a:r>
            <a:r>
              <a:rPr lang="en-US" dirty="0"/>
              <a:t> Context Manager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C4DAC9-CE68-493F-8D32-82A28AFEB62E}"/>
              </a:ext>
            </a:extLst>
          </p:cNvPr>
          <p:cNvSpPr txBox="1"/>
          <p:nvPr/>
        </p:nvSpPr>
        <p:spPr>
          <a:xfrm>
            <a:off x="1830898" y="3429000"/>
            <a:ext cx="8530201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/>
              <a:t>Create custom file context manager.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FA7102-6641-4F90-9E3F-7AB9F20DF348}"/>
              </a:ext>
            </a:extLst>
          </p:cNvPr>
          <p:cNvSpPr txBox="1"/>
          <p:nvPr/>
        </p:nvSpPr>
        <p:spPr>
          <a:xfrm>
            <a:off x="2395303" y="2245053"/>
            <a:ext cx="7401393" cy="75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2603410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18" y="459698"/>
            <a:ext cx="9875520" cy="1356360"/>
          </a:xfrm>
        </p:spPr>
        <p:txBody>
          <a:bodyPr/>
          <a:lstStyle/>
          <a:p>
            <a:r>
              <a:rPr dirty="0"/>
              <a:t>Custom </a:t>
            </a:r>
            <a:r>
              <a:rPr lang="en-US" dirty="0"/>
              <a:t>CM (Open and Close a File)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721178-B37B-4D58-AF4D-12C3649901F6}"/>
              </a:ext>
            </a:extLst>
          </p:cNvPr>
          <p:cNvSpPr txBox="1"/>
          <p:nvPr/>
        </p:nvSpPr>
        <p:spPr>
          <a:xfrm>
            <a:off x="2102995" y="1885660"/>
            <a:ext cx="7986010" cy="42473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CustomOpen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file_name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file_mode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file_name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file_name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file_mode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file_mode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__enter__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file_name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file_mode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__exit__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exc_type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exc_value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traceback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exc_type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'ERROR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--&gt;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exc_value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56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18" y="459698"/>
            <a:ext cx="9875520" cy="1356360"/>
          </a:xfrm>
        </p:spPr>
        <p:txBody>
          <a:bodyPr/>
          <a:lstStyle/>
          <a:p>
            <a:r>
              <a:rPr dirty="0"/>
              <a:t>Custom </a:t>
            </a:r>
            <a:r>
              <a:rPr lang="en-US" dirty="0"/>
              <a:t>CM (Transaction Manager)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721178-B37B-4D58-AF4D-12C3649901F6}"/>
              </a:ext>
            </a:extLst>
          </p:cNvPr>
          <p:cNvSpPr txBox="1"/>
          <p:nvPr/>
        </p:nvSpPr>
        <p:spPr>
          <a:xfrm>
            <a:off x="2102995" y="1885660"/>
            <a:ext cx="7986010" cy="42473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Transaction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__enter__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"Transaction started"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__exit__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exc_type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exc_value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traceback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exc_type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"Transaction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rolled back: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exc_value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"Transaction committed"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Transaction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"Transferring money..."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#raise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RuntimeError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("Insufficient funds")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5543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17" y="459698"/>
            <a:ext cx="10624279" cy="1356360"/>
          </a:xfrm>
        </p:spPr>
        <p:txBody>
          <a:bodyPr/>
          <a:lstStyle/>
          <a:p>
            <a:r>
              <a:rPr dirty="0"/>
              <a:t>Custom </a:t>
            </a:r>
            <a:r>
              <a:rPr lang="en-US" dirty="0"/>
              <a:t>CM (Database Connection Manager)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721178-B37B-4D58-AF4D-12C3649901F6}"/>
              </a:ext>
            </a:extLst>
          </p:cNvPr>
          <p:cNvSpPr txBox="1"/>
          <p:nvPr/>
        </p:nvSpPr>
        <p:spPr>
          <a:xfrm>
            <a:off x="2102995" y="1885660"/>
            <a:ext cx="7986010" cy="397031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DatabaseConnection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__enter__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"Connected to database"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__exit__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exc_type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exc_value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traceback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exc_type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"Database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error: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exc_value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"Connection closed"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DatabaseConnection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"Running query..."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raise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ValueError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("Invalid SQL syntax")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030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Context Managers?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Cleaner code with less boilerplate.</a:t>
            </a:r>
          </a:p>
          <a:p>
            <a:r>
              <a:t>Automatic handling of exceptions.</a:t>
            </a:r>
          </a:p>
          <a:p>
            <a:r>
              <a:t>Prevents resource leaks (files, DB connections, sockets).</a:t>
            </a:r>
          </a:p>
          <a:p>
            <a:r>
              <a:t>Improves reliability and readability.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Context managers simplify resource management.</a:t>
            </a:r>
          </a:p>
          <a:p>
            <a:r>
              <a:t>Use 'with' to automatically handle setup and cleanup.</a:t>
            </a:r>
          </a:p>
          <a:p>
            <a:r>
              <a:t>You can create custom context managers with classes or contextlib.</a:t>
            </a:r>
          </a:p>
          <a:p>
            <a:r>
              <a:t>They make Python code safer, cleaner, and more Pythonic.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339</TotalTime>
  <Words>1121</Words>
  <Application>Microsoft Office PowerPoint</Application>
  <PresentationFormat>Widescreen</PresentationFormat>
  <Paragraphs>137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 Unicode MS</vt:lpstr>
      <vt:lpstr>Consolas</vt:lpstr>
      <vt:lpstr>Corbel</vt:lpstr>
      <vt:lpstr>Basis</vt:lpstr>
      <vt:lpstr>Context Manager</vt:lpstr>
      <vt:lpstr>What is a Context Manager?</vt:lpstr>
      <vt:lpstr>Example: File Handling</vt:lpstr>
      <vt:lpstr>How Context Managers Work</vt:lpstr>
      <vt:lpstr>Custom Context Manager</vt:lpstr>
      <vt:lpstr>__enter__(self)</vt:lpstr>
      <vt:lpstr>__exit__(self, …)</vt:lpstr>
      <vt:lpstr>__exit__(self, …)</vt:lpstr>
      <vt:lpstr>PowerPoint Presentation</vt:lpstr>
      <vt:lpstr>Creating a Context Manager</vt:lpstr>
      <vt:lpstr>Custom CM (Open and Close a File)</vt:lpstr>
      <vt:lpstr>Custom CM (Transaction Manager)</vt:lpstr>
      <vt:lpstr>Custom CM (Database Connection Manager)</vt:lpstr>
      <vt:lpstr>Why Use Context Managers?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Context Managers</dc:title>
  <dc:subject/>
  <dc:creator/>
  <cp:keywords/>
  <dc:description>generated using python-pptx</dc:description>
  <cp:lastModifiedBy>afsaneh bigdely</cp:lastModifiedBy>
  <cp:revision>18</cp:revision>
  <dcterms:created xsi:type="dcterms:W3CDTF">2013-01-27T09:14:16Z</dcterms:created>
  <dcterms:modified xsi:type="dcterms:W3CDTF">2025-09-25T05:44:18Z</dcterms:modified>
  <cp:category/>
</cp:coreProperties>
</file>