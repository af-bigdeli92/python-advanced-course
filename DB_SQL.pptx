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9" r:id="rId2"/>
    <p:sldId id="280" r:id="rId3"/>
    <p:sldId id="281" r:id="rId4"/>
    <p:sldId id="282" r:id="rId5"/>
    <p:sldId id="283" r:id="rId6"/>
    <p:sldId id="256" r:id="rId7"/>
    <p:sldId id="257" r:id="rId8"/>
    <p:sldId id="260" r:id="rId9"/>
    <p:sldId id="261" r:id="rId10"/>
    <p:sldId id="262" r:id="rId11"/>
    <p:sldId id="263" r:id="rId12"/>
    <p:sldId id="272" r:id="rId13"/>
    <p:sldId id="258" r:id="rId14"/>
    <p:sldId id="259" r:id="rId15"/>
    <p:sldId id="264" r:id="rId16"/>
    <p:sldId id="265" r:id="rId17"/>
    <p:sldId id="266" r:id="rId18"/>
    <p:sldId id="267" r:id="rId19"/>
    <p:sldId id="284" r:id="rId20"/>
    <p:sldId id="286" r:id="rId21"/>
    <p:sldId id="287" r:id="rId22"/>
    <p:sldId id="288" r:id="rId23"/>
    <p:sldId id="289" r:id="rId24"/>
    <p:sldId id="290" r:id="rId25"/>
    <p:sldId id="29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944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53" y="6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53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7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29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5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8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4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0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01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9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7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63D30-E48D-426F-AE5A-46EEB314D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4763" y="2090418"/>
            <a:ext cx="8422474" cy="26771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Databases</a:t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33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564" y="1709531"/>
            <a:ext cx="9872871" cy="85476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dirty="0"/>
              <a:t>A database is an organized collection of structured information or data stored electronically</a:t>
            </a:r>
            <a:r>
              <a:rPr lang="en-US" dirty="0"/>
              <a:t>. </a:t>
            </a:r>
            <a:r>
              <a:rPr dirty="0"/>
              <a:t>It allows easy access, management, and updating of data.</a:t>
            </a:r>
          </a:p>
          <a:p>
            <a:pPr marL="45720" indent="0"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427C69-842D-439D-8401-2C34D5085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443122"/>
              </p:ext>
            </p:extLst>
          </p:nvPr>
        </p:nvGraphicFramePr>
        <p:xfrm>
          <a:off x="1003673" y="2933303"/>
          <a:ext cx="10184652" cy="2720803"/>
        </p:xfrm>
        <a:graphic>
          <a:graphicData uri="http://schemas.openxmlformats.org/drawingml/2006/table">
            <a:tbl>
              <a:tblPr firstRow="1" firstCol="1">
                <a:tableStyleId>{8799B23B-EC83-4686-B30A-512413B5E67A}</a:tableStyleId>
              </a:tblPr>
              <a:tblGrid>
                <a:gridCol w="1298891">
                  <a:extLst>
                    <a:ext uri="{9D8B030D-6E8A-4147-A177-3AD203B41FA5}">
                      <a16:colId xmlns:a16="http://schemas.microsoft.com/office/drawing/2014/main" val="335285629"/>
                    </a:ext>
                  </a:extLst>
                </a:gridCol>
                <a:gridCol w="2951922">
                  <a:extLst>
                    <a:ext uri="{9D8B030D-6E8A-4147-A177-3AD203B41FA5}">
                      <a16:colId xmlns:a16="http://schemas.microsoft.com/office/drawing/2014/main" val="1955847337"/>
                    </a:ext>
                  </a:extLst>
                </a:gridCol>
                <a:gridCol w="3129501">
                  <a:extLst>
                    <a:ext uri="{9D8B030D-6E8A-4147-A177-3AD203B41FA5}">
                      <a16:colId xmlns:a16="http://schemas.microsoft.com/office/drawing/2014/main" val="1996102734"/>
                    </a:ext>
                  </a:extLst>
                </a:gridCol>
                <a:gridCol w="2804338">
                  <a:extLst>
                    <a:ext uri="{9D8B030D-6E8A-4147-A177-3AD203B41FA5}">
                      <a16:colId xmlns:a16="http://schemas.microsoft.com/office/drawing/2014/main" val="2593625903"/>
                    </a:ext>
                  </a:extLst>
                </a:gridCol>
              </a:tblGrid>
              <a:tr h="280721">
                <a:tc>
                  <a:txBody>
                    <a:bodyPr/>
                    <a:lstStyle/>
                    <a:p>
                      <a:r>
                        <a:rPr lang="en-US" sz="1400" dirty="0"/>
                        <a:t>Database Type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Data Model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Typical Use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Example Systems</a:t>
                      </a:r>
                    </a:p>
                  </a:txBody>
                  <a:tcPr marL="61191" marR="61191" marT="30595" marB="30595" anchor="ctr"/>
                </a:tc>
                <a:extLst>
                  <a:ext uri="{0D108BD9-81ED-4DB2-BD59-A6C34878D82A}">
                    <a16:rowId xmlns:a16="http://schemas.microsoft.com/office/drawing/2014/main" val="1431314031"/>
                  </a:ext>
                </a:extLst>
              </a:tr>
              <a:tr h="1001059">
                <a:tc>
                  <a:txBody>
                    <a:bodyPr/>
                    <a:lstStyle/>
                    <a:p>
                      <a:r>
                        <a:rPr lang="en-US" sz="16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Relational</a:t>
                      </a:r>
                      <a:endParaRPr lang="en-U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1191" marR="61191" marT="30595" marB="305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Tables with rows and columns (structured data)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Applications with structured, related data and strong consistency (e.g., accounting systems)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MySQL, PostgreSQL, SQLite, Oracle</a:t>
                      </a:r>
                    </a:p>
                  </a:txBody>
                  <a:tcPr marL="61191" marR="61191" marT="30595" marB="30595" anchor="ctr"/>
                </a:tc>
                <a:extLst>
                  <a:ext uri="{0D108BD9-81ED-4DB2-BD59-A6C34878D82A}">
                    <a16:rowId xmlns:a16="http://schemas.microsoft.com/office/drawing/2014/main" val="360620669"/>
                  </a:ext>
                </a:extLst>
              </a:tr>
              <a:tr h="813361">
                <a:tc>
                  <a:txBody>
                    <a:bodyPr/>
                    <a:lstStyle/>
                    <a:p>
                      <a:r>
                        <a:rPr lang="en-US" sz="16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NoSQL</a:t>
                      </a:r>
                      <a:endParaRPr lang="en-U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1191" marR="61191" marT="30595" marB="305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Flexible, non-tabular (documents, key-value)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Handling unstructured or semi-structured data; scalability and speed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MongoDB (document), Redis (key-value)</a:t>
                      </a:r>
                    </a:p>
                  </a:txBody>
                  <a:tcPr marL="61191" marR="61191" marT="30595" marB="30595" anchor="ctr"/>
                </a:tc>
                <a:extLst>
                  <a:ext uri="{0D108BD9-81ED-4DB2-BD59-A6C34878D82A}">
                    <a16:rowId xmlns:a16="http://schemas.microsoft.com/office/drawing/2014/main" val="2015520009"/>
                  </a:ext>
                </a:extLst>
              </a:tr>
              <a:tr h="625662">
                <a:tc>
                  <a:txBody>
                    <a:bodyPr/>
                    <a:lstStyle/>
                    <a:p>
                      <a:r>
                        <a:rPr lang="en-US" sz="16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In-Memory</a:t>
                      </a:r>
                      <a:endParaRPr lang="en-US" sz="16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1191" marR="61191" marT="30595" marB="305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Stores data primarily in RAM for ultra-fast access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Caching, session storage, real-time analytics</a:t>
                      </a:r>
                    </a:p>
                  </a:txBody>
                  <a:tcPr marL="61191" marR="61191" marT="30595" marB="3059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Redis</a:t>
                      </a:r>
                    </a:p>
                  </a:txBody>
                  <a:tcPr marL="61191" marR="61191" marT="30595" marB="30595" anchor="ctr"/>
                </a:tc>
                <a:extLst>
                  <a:ext uri="{0D108BD9-81ED-4DB2-BD59-A6C34878D82A}">
                    <a16:rowId xmlns:a16="http://schemas.microsoft.com/office/drawing/2014/main" val="22053706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Relational Databases (RDBMS)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1858617"/>
          </a:xfrm>
        </p:spPr>
        <p:txBody>
          <a:bodyPr/>
          <a:lstStyle/>
          <a:p>
            <a:r>
              <a:rPr dirty="0"/>
              <a:t>Relational Databases store data in tables (relations) with rows and columns.</a:t>
            </a:r>
          </a:p>
          <a:p>
            <a:r>
              <a:rPr dirty="0"/>
              <a:t>Each table has a</a:t>
            </a:r>
            <a:r>
              <a:rPr lang="en-US" dirty="0"/>
              <a:t> </a:t>
            </a:r>
            <a:r>
              <a:rPr lang="en-US" u="sng" dirty="0"/>
              <a:t>primary key </a:t>
            </a:r>
            <a:r>
              <a:rPr lang="en-US" dirty="0"/>
              <a:t>(unique)</a:t>
            </a:r>
            <a:r>
              <a:rPr dirty="0"/>
              <a:t> and can relate to other tables through </a:t>
            </a:r>
            <a:r>
              <a:rPr u="sng" dirty="0"/>
              <a:t>foreign keys</a:t>
            </a:r>
            <a:r>
              <a:rPr dirty="0"/>
              <a:t>.</a:t>
            </a:r>
          </a:p>
          <a:p>
            <a:r>
              <a:rPr dirty="0"/>
              <a:t>Examples: MySQL, PostgreSQL, SQLite, Oracle, SQL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in RDBMS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Table: Collection of rows and columns.</a:t>
            </a:r>
            <a:r>
              <a:rPr lang="en-US" dirty="0"/>
              <a:t> Each entity become a table.</a:t>
            </a:r>
            <a:endParaRPr dirty="0"/>
          </a:p>
          <a:p>
            <a:r>
              <a:rPr dirty="0"/>
              <a:t>- Row: A single record</a:t>
            </a:r>
            <a:r>
              <a:rPr lang="en-US" dirty="0"/>
              <a:t> (data)</a:t>
            </a:r>
            <a:r>
              <a:rPr dirty="0"/>
              <a:t> in a table.</a:t>
            </a:r>
          </a:p>
          <a:p>
            <a:r>
              <a:rPr dirty="0"/>
              <a:t>- Column: An attribute of data.</a:t>
            </a:r>
          </a:p>
          <a:p>
            <a:r>
              <a:rPr dirty="0"/>
              <a:t>- Primary Key: Uniquely identifies a record.</a:t>
            </a:r>
          </a:p>
          <a:p>
            <a:r>
              <a:rPr dirty="0"/>
              <a:t>- Foreign Key: Connects tables together.</a:t>
            </a:r>
          </a:p>
          <a:p>
            <a:r>
              <a:rPr dirty="0"/>
              <a:t>- SQL: Structured Query Language used to manage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Relations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633D2-3FB5-4A2D-AACA-1D99709DD1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41" t="28667" r="22147" b="46377"/>
          <a:stretch/>
        </p:blipFill>
        <p:spPr>
          <a:xfrm>
            <a:off x="1701278" y="2623931"/>
            <a:ext cx="8758963" cy="22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5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SQL (Structured Query Language) is the standard language for managing relational databases.</a:t>
            </a:r>
          </a:p>
          <a:p>
            <a:endParaRPr sz="2000" dirty="0"/>
          </a:p>
          <a:p>
            <a:r>
              <a:rPr sz="2000" dirty="0"/>
              <a:t>Main uses:</a:t>
            </a:r>
          </a:p>
          <a:p>
            <a:r>
              <a:rPr sz="2000" dirty="0"/>
              <a:t>- </a:t>
            </a:r>
            <a:r>
              <a:rPr sz="2400" b="1" dirty="0"/>
              <a:t>C</a:t>
            </a:r>
            <a:r>
              <a:rPr sz="2000" dirty="0"/>
              <a:t>reating databases and tables</a:t>
            </a:r>
          </a:p>
          <a:p>
            <a:r>
              <a:rPr sz="2000" dirty="0"/>
              <a:t>- Inserting, </a:t>
            </a:r>
            <a:r>
              <a:rPr lang="en-US" sz="2400" b="1" dirty="0"/>
              <a:t>U</a:t>
            </a:r>
            <a:r>
              <a:rPr sz="2000" dirty="0"/>
              <a:t>pdating, and </a:t>
            </a:r>
            <a:r>
              <a:rPr lang="en-US" sz="2400" b="1" dirty="0"/>
              <a:t>D</a:t>
            </a:r>
            <a:r>
              <a:rPr sz="2000" dirty="0"/>
              <a:t>eleting records</a:t>
            </a:r>
          </a:p>
          <a:p>
            <a:r>
              <a:rPr sz="2000" dirty="0"/>
              <a:t>- Querying data</a:t>
            </a:r>
            <a:r>
              <a:rPr lang="en-US" sz="2000" dirty="0"/>
              <a:t> (</a:t>
            </a:r>
            <a:r>
              <a:rPr lang="en-US" sz="2400" b="1" dirty="0"/>
              <a:t>R</a:t>
            </a:r>
            <a:r>
              <a:rPr lang="en-US" sz="2000" dirty="0"/>
              <a:t>ead)</a:t>
            </a:r>
            <a:endParaRPr sz="2000" dirty="0"/>
          </a:p>
          <a:p>
            <a:r>
              <a:rPr sz="2000" dirty="0"/>
              <a:t>- Managing permissions and transactions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0C566E-0B19-45AA-888B-62C9A4E06C64}"/>
              </a:ext>
            </a:extLst>
          </p:cNvPr>
          <p:cNvSpPr/>
          <p:nvPr/>
        </p:nvSpPr>
        <p:spPr>
          <a:xfrm>
            <a:off x="8086902" y="3429000"/>
            <a:ext cx="2726872" cy="174715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C3300"/>
                </a:solidFill>
              </a:rPr>
              <a:t>CRUD</a:t>
            </a:r>
            <a:r>
              <a:rPr lang="en-US" dirty="0">
                <a:solidFill>
                  <a:srgbClr val="CC3300"/>
                </a:solidFill>
              </a:rPr>
              <a:t> stands for the four basic actions you can do with data in a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1. DDL (Data Definition Language): CREATE, ALTER, DROP</a:t>
            </a:r>
          </a:p>
          <a:p>
            <a:r>
              <a:rPr sz="2000"/>
              <a:t>2. DML (Data Manipulation Language): INSERT, UPDATE, DELETE</a:t>
            </a:r>
          </a:p>
          <a:p>
            <a:r>
              <a:rPr sz="2000"/>
              <a:t>3. DQL (Data Query Language): SELECT</a:t>
            </a:r>
          </a:p>
          <a:p>
            <a:r>
              <a:rPr sz="2000"/>
              <a:t>4. DCL (Data Control Language): GRANT, REVOKE</a:t>
            </a:r>
          </a:p>
          <a:p>
            <a:r>
              <a:rPr sz="2000"/>
              <a:t>5. TCL (Transaction Control Language): COMMIT, ROLLBACK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Types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SQL supports various data types grouped into categories:</a:t>
            </a:r>
          </a:p>
          <a:p>
            <a:r>
              <a:rPr sz="2000"/>
              <a:t>- Numeric: INTEGER, REAL, DECIMAL</a:t>
            </a:r>
          </a:p>
          <a:p>
            <a:r>
              <a:rPr sz="2000"/>
              <a:t>- Character: CHAR, VARCHAR, TEXT</a:t>
            </a:r>
          </a:p>
          <a:p>
            <a:r>
              <a:rPr sz="2000"/>
              <a:t>- Date/Time: DATE, TIME, DATETIME</a:t>
            </a:r>
          </a:p>
          <a:p>
            <a:r>
              <a:rPr sz="2000"/>
              <a:t>- Boolean: TRUE/FALSE (sometimes as INTEGER)</a:t>
            </a:r>
          </a:p>
          <a:p>
            <a:r>
              <a:rPr sz="2000"/>
              <a:t>- Binary: BLOB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6694714" cy="1551214"/>
          </a:xfrm>
        </p:spPr>
        <p:txBody>
          <a:bodyPr/>
          <a:lstStyle/>
          <a:p>
            <a:r>
              <a:rPr sz="2000" dirty="0"/>
              <a:t>INTEGER: Whole numbers (-2B to 2B)</a:t>
            </a:r>
          </a:p>
          <a:p>
            <a:r>
              <a:rPr sz="2000" dirty="0"/>
              <a:t>REAL / FLOAT: Decimal numbers (approximation)</a:t>
            </a:r>
          </a:p>
          <a:p>
            <a:r>
              <a:rPr sz="2000" dirty="0"/>
              <a:t>DECIMAL(precision, scale): Exact decimal value</a:t>
            </a:r>
            <a:r>
              <a:rPr lang="en-US" sz="2000" dirty="0"/>
              <a:t>s</a:t>
            </a:r>
          </a:p>
          <a:p>
            <a:pPr marL="45720" indent="0">
              <a:buNone/>
            </a:pPr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FDB4B0-C4FB-44EE-A916-E707F466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664803"/>
              </p:ext>
            </p:extLst>
          </p:nvPr>
        </p:nvGraphicFramePr>
        <p:xfrm>
          <a:off x="1289958" y="4076700"/>
          <a:ext cx="9872664" cy="1463040"/>
        </p:xfrm>
        <a:graphic>
          <a:graphicData uri="http://schemas.openxmlformats.org/drawingml/2006/table">
            <a:tbl>
              <a:tblPr firstRow="1" firstCol="1">
                <a:tableStyleId>{8799B23B-EC83-4686-B30A-512413B5E67A}</a:tableStyleId>
              </a:tblPr>
              <a:tblGrid>
                <a:gridCol w="2468166">
                  <a:extLst>
                    <a:ext uri="{9D8B030D-6E8A-4147-A177-3AD203B41FA5}">
                      <a16:colId xmlns:a16="http://schemas.microsoft.com/office/drawing/2014/main" val="2402876891"/>
                    </a:ext>
                  </a:extLst>
                </a:gridCol>
                <a:gridCol w="2468166">
                  <a:extLst>
                    <a:ext uri="{9D8B030D-6E8A-4147-A177-3AD203B41FA5}">
                      <a16:colId xmlns:a16="http://schemas.microsoft.com/office/drawing/2014/main" val="4257285910"/>
                    </a:ext>
                  </a:extLst>
                </a:gridCol>
                <a:gridCol w="2468166">
                  <a:extLst>
                    <a:ext uri="{9D8B030D-6E8A-4147-A177-3AD203B41FA5}">
                      <a16:colId xmlns:a16="http://schemas.microsoft.com/office/drawing/2014/main" val="49416025"/>
                    </a:ext>
                  </a:extLst>
                </a:gridCol>
                <a:gridCol w="2468166">
                  <a:extLst>
                    <a:ext uri="{9D8B030D-6E8A-4147-A177-3AD203B41FA5}">
                      <a16:colId xmlns:a16="http://schemas.microsoft.com/office/drawing/2014/main" val="417837613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Type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Can have decimals?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Exact or Approximate?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Typical Use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5002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INTEGER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IDs, counts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2917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FLOAT / REAL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Approximate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Measurements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0910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DECIMAL(</a:t>
                      </a:r>
                      <a:r>
                        <a:rPr lang="en-US" sz="1800" dirty="0" err="1"/>
                        <a:t>p,s</a:t>
                      </a:r>
                      <a:r>
                        <a:rPr lang="en-US" sz="1800" dirty="0"/>
                        <a:t>)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Money, precise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8019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1500809"/>
          </a:xfrm>
        </p:spPr>
        <p:txBody>
          <a:bodyPr/>
          <a:lstStyle/>
          <a:p>
            <a:r>
              <a:rPr sz="2000" dirty="0"/>
              <a:t>CHAR(n): Fixed-length text</a:t>
            </a:r>
          </a:p>
          <a:p>
            <a:r>
              <a:rPr sz="2000" dirty="0"/>
              <a:t>VARCHAR(n): Variable-length text</a:t>
            </a:r>
          </a:p>
          <a:p>
            <a:r>
              <a:rPr sz="2000" dirty="0"/>
              <a:t>TEXT: Long text strings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E4FC19-3CD9-47C8-90B0-EF739C6BD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982737"/>
              </p:ext>
            </p:extLst>
          </p:nvPr>
        </p:nvGraphicFramePr>
        <p:xfrm>
          <a:off x="1143000" y="3629439"/>
          <a:ext cx="9872664" cy="2072640"/>
        </p:xfrm>
        <a:graphic>
          <a:graphicData uri="http://schemas.openxmlformats.org/drawingml/2006/table">
            <a:tbl>
              <a:tblPr firstRow="1" firstCol="1">
                <a:tableStyleId>{8799B23B-EC83-4686-B30A-512413B5E67A}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538687228"/>
                    </a:ext>
                  </a:extLst>
                </a:gridCol>
                <a:gridCol w="2584174">
                  <a:extLst>
                    <a:ext uri="{9D8B030D-6E8A-4147-A177-3AD203B41FA5}">
                      <a16:colId xmlns:a16="http://schemas.microsoft.com/office/drawing/2014/main" val="1206762407"/>
                    </a:ext>
                  </a:extLst>
                </a:gridCol>
                <a:gridCol w="2723322">
                  <a:extLst>
                    <a:ext uri="{9D8B030D-6E8A-4147-A177-3AD203B41FA5}">
                      <a16:colId xmlns:a16="http://schemas.microsoft.com/office/drawing/2014/main" val="2145001786"/>
                    </a:ext>
                  </a:extLst>
                </a:gridCol>
                <a:gridCol w="2736368">
                  <a:extLst>
                    <a:ext uri="{9D8B030D-6E8A-4147-A177-3AD203B41FA5}">
                      <a16:colId xmlns:a16="http://schemas.microsoft.com/office/drawing/2014/main" val="2498473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Fixed or Variable Length?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Maximum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Typical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443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CHAR(n)</a:t>
                      </a:r>
                      <a:endParaRPr lang="en-US" sz="160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Fixed-length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Exactly </a:t>
                      </a:r>
                      <a:r>
                        <a:rPr lang="en-US" sz="1600" b="1"/>
                        <a:t>n</a:t>
                      </a:r>
                      <a:r>
                        <a:rPr lang="en-US" sz="1600"/>
                        <a:t>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Short, fixed-size codes (e.g., country codes)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66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VARCHAR(n)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Variable-length (up to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Up to </a:t>
                      </a:r>
                      <a:r>
                        <a:rPr lang="en-US" sz="1600" b="1"/>
                        <a:t>n</a:t>
                      </a:r>
                      <a:r>
                        <a:rPr lang="en-US" sz="1600"/>
                        <a:t>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Regular text with varying length (e.g., names)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32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TEXT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Variable-length (very large)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Up to database’s text limit (often MBs)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Long text fields (e.g., descriptions, articles)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8429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 and Time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1570383"/>
          </a:xfrm>
        </p:spPr>
        <p:txBody>
          <a:bodyPr/>
          <a:lstStyle/>
          <a:p>
            <a:r>
              <a:rPr sz="2000" dirty="0"/>
              <a:t>DATE: '2025-11-06'</a:t>
            </a:r>
          </a:p>
          <a:p>
            <a:r>
              <a:rPr sz="2000" dirty="0"/>
              <a:t>TIME: '14:30:00'</a:t>
            </a:r>
          </a:p>
          <a:p>
            <a:r>
              <a:rPr sz="2000" dirty="0"/>
              <a:t>DATETIME or TIMESTAMP: '2025-11-06 14:30:00'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402C4E-DE35-48B5-9F39-1FDE3E46F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35464"/>
              </p:ext>
            </p:extLst>
          </p:nvPr>
        </p:nvGraphicFramePr>
        <p:xfrm>
          <a:off x="1176336" y="3549594"/>
          <a:ext cx="9872664" cy="28346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80322">
                  <a:extLst>
                    <a:ext uri="{9D8B030D-6E8A-4147-A177-3AD203B41FA5}">
                      <a16:colId xmlns:a16="http://schemas.microsoft.com/office/drawing/2014/main" val="3887673043"/>
                    </a:ext>
                  </a:extLst>
                </a:gridCol>
                <a:gridCol w="2773017">
                  <a:extLst>
                    <a:ext uri="{9D8B030D-6E8A-4147-A177-3AD203B41FA5}">
                      <a16:colId xmlns:a16="http://schemas.microsoft.com/office/drawing/2014/main" val="2101942570"/>
                    </a:ext>
                  </a:extLst>
                </a:gridCol>
                <a:gridCol w="1997765">
                  <a:extLst>
                    <a:ext uri="{9D8B030D-6E8A-4147-A177-3AD203B41FA5}">
                      <a16:colId xmlns:a16="http://schemas.microsoft.com/office/drawing/2014/main" val="286713194"/>
                    </a:ext>
                  </a:extLst>
                </a:gridCol>
                <a:gridCol w="3521560">
                  <a:extLst>
                    <a:ext uri="{9D8B030D-6E8A-4147-A177-3AD203B41FA5}">
                      <a16:colId xmlns:a16="http://schemas.microsoft.com/office/drawing/2014/main" val="72013422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6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What It Stores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Example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Typical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6861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600" b="1" dirty="0"/>
                        <a:t>DATE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Only the </a:t>
                      </a:r>
                      <a:r>
                        <a:rPr lang="en-US" sz="1600" b="1"/>
                        <a:t>calendar date</a:t>
                      </a:r>
                      <a:r>
                        <a:rPr lang="en-US" sz="1600"/>
                        <a:t> (year, month, 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'2025-11-06'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Birthdays, registration dates, due 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12159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600" b="1"/>
                        <a:t>TIME</a:t>
                      </a:r>
                      <a:endParaRPr lang="en-US" sz="160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Only the </a:t>
                      </a:r>
                      <a:r>
                        <a:rPr lang="en-US" sz="1600" b="1"/>
                        <a:t>time of day</a:t>
                      </a:r>
                      <a:r>
                        <a:rPr lang="en-US" sz="1600"/>
                        <a:t> (hours, minutes, seconds)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'14:30:00'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Opening hours, event times, durations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40258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600" b="1" dirty="0"/>
                        <a:t>DATETIME</a:t>
                      </a:r>
                      <a:r>
                        <a:rPr lang="en-US" sz="1600" dirty="0"/>
                        <a:t> or </a:t>
                      </a:r>
                      <a:r>
                        <a:rPr lang="en-US" sz="1600" b="1" dirty="0"/>
                        <a:t>TIMESTAMP</a:t>
                      </a:r>
                      <a:endParaRPr lang="en-US" sz="16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Both </a:t>
                      </a:r>
                      <a:r>
                        <a:rPr lang="en-US" sz="1600" b="1"/>
                        <a:t>date and time</a:t>
                      </a:r>
                      <a:r>
                        <a:rPr lang="en-US" sz="1600"/>
                        <a:t> together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'2025-11-06 14:30:00'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Logging events, order timestamps, created/updated fields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77114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264380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sz="1800" dirty="0"/>
              <a:t>Constraints maintain data integrity:</a:t>
            </a:r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sz="1800" dirty="0"/>
              <a:t>PRIMARY KEY: Unique identifier</a:t>
            </a:r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sz="1800" dirty="0"/>
              <a:t>FOREIGN KEY: References another table</a:t>
            </a:r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sz="1800" dirty="0"/>
              <a:t>UNIQUE: Prevents duplicates</a:t>
            </a:r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sz="1800" dirty="0"/>
              <a:t>NOT NULL: Value must exist</a:t>
            </a:r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sz="1800" dirty="0"/>
              <a:t>CHECK: Enforces a condition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Creating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2057400"/>
            <a:ext cx="9529971" cy="1094014"/>
          </a:xfrm>
        </p:spPr>
        <p:txBody>
          <a:bodyPr/>
          <a:lstStyle/>
          <a:p>
            <a:pPr marL="45720" indent="0">
              <a:buNone/>
            </a:pPr>
            <a:endParaRPr sz="2000" dirty="0"/>
          </a:p>
          <a:p>
            <a:r>
              <a:rPr sz="2000" dirty="0"/>
              <a:t>This defines the structure of a table with columns and their data types.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CC9B9-9E17-4E00-A5AE-5CF2389244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910" t="30000" r="54331" b="54047"/>
          <a:stretch/>
        </p:blipFill>
        <p:spPr>
          <a:xfrm>
            <a:off x="3295649" y="3359313"/>
            <a:ext cx="5600701" cy="24209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Altering and Dropping Tables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8E971F-2924-4305-920F-89C73D15FA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71" t="62326" r="44112" b="31720"/>
          <a:stretch/>
        </p:blipFill>
        <p:spPr>
          <a:xfrm>
            <a:off x="2086610" y="2315747"/>
            <a:ext cx="8018780" cy="85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62DEA6-1792-490B-A327-67FA799851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77" t="26191" r="61562" b="68571"/>
          <a:stretch/>
        </p:blipFill>
        <p:spPr>
          <a:xfrm>
            <a:off x="6080760" y="4977193"/>
            <a:ext cx="3963321" cy="854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1D3ED4-C0B9-4D20-8592-BB7594BD2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610" y="3791774"/>
            <a:ext cx="2672602" cy="9916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Insertin</a:t>
            </a:r>
            <a:r>
              <a:rPr lang="en-US" dirty="0"/>
              <a:t>g Data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E003CD-CDEA-4534-BE6D-43305B8291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179" t="60000" r="52187" b="31667"/>
          <a:stretch/>
        </p:blipFill>
        <p:spPr>
          <a:xfrm>
            <a:off x="2887435" y="2193316"/>
            <a:ext cx="6417130" cy="13289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and Deleting Records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6A20A-612C-4EBA-9A0D-FC3D8E52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44" t="32381" r="58883" b="55952"/>
          <a:stretch/>
        </p:blipFill>
        <p:spPr>
          <a:xfrm>
            <a:off x="1564821" y="1965960"/>
            <a:ext cx="4849587" cy="1931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E347C2-6548-4A00-AC78-858B04F7B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54" t="60635" r="62991" b="29841"/>
          <a:stretch/>
        </p:blipFill>
        <p:spPr>
          <a:xfrm>
            <a:off x="6414408" y="4344727"/>
            <a:ext cx="3666762" cy="15771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Selecting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60792B-6B95-4564-A5C8-85C9D54425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02" t="26667" r="55978" b="67246"/>
          <a:stretch/>
        </p:blipFill>
        <p:spPr>
          <a:xfrm>
            <a:off x="1143000" y="2095492"/>
            <a:ext cx="4273068" cy="757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E42027-A1FD-4043-ADE4-5429B69C9F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78" t="62817" r="48383" b="29937"/>
          <a:stretch/>
        </p:blipFill>
        <p:spPr>
          <a:xfrm>
            <a:off x="1143000" y="4701210"/>
            <a:ext cx="5913782" cy="901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42F0BD-C0DC-467D-9365-33501834D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95" t="45429" r="53139" b="48774"/>
          <a:stretch/>
        </p:blipFill>
        <p:spPr>
          <a:xfrm>
            <a:off x="1143000" y="3416381"/>
            <a:ext cx="4813961" cy="7211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and Sorting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E377D-5EA7-4E9E-954D-B942E3516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27" t="51739" r="48152" b="41594"/>
          <a:stretch/>
        </p:blipFill>
        <p:spPr>
          <a:xfrm>
            <a:off x="1252329" y="2376115"/>
            <a:ext cx="5753271" cy="804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F51F70-F51E-4C32-8D60-AF24FC4235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27" t="70657" r="56971" b="24493"/>
          <a:stretch/>
        </p:blipFill>
        <p:spPr>
          <a:xfrm>
            <a:off x="1252330" y="3429000"/>
            <a:ext cx="3861477" cy="5852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Relations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633D2-3FB5-4A2D-AACA-1D99709DD1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41" t="28667" r="22147" b="46377"/>
          <a:stretch/>
        </p:blipFill>
        <p:spPr>
          <a:xfrm>
            <a:off x="1701278" y="2623931"/>
            <a:ext cx="8758963" cy="22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11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to One</a:t>
            </a:r>
            <a:r>
              <a:rPr dirty="0"/>
              <a:t> Example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3081130" cy="556591"/>
          </a:xfrm>
        </p:spPr>
        <p:txBody>
          <a:bodyPr>
            <a:normAutofit/>
          </a:bodyPr>
          <a:lstStyle/>
          <a:p>
            <a:r>
              <a:rPr lang="en-US" dirty="0"/>
              <a:t>User and Profile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17FA9-F75B-4E06-94F5-23AA7FA3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705431"/>
            <a:ext cx="4578439" cy="312883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16C57A-3E6E-4276-8F33-E341B235BD5E}"/>
              </a:ext>
            </a:extLst>
          </p:cNvPr>
          <p:cNvSpPr txBox="1">
            <a:spLocks/>
          </p:cNvSpPr>
          <p:nvPr/>
        </p:nvSpPr>
        <p:spPr>
          <a:xfrm>
            <a:off x="6672470" y="2057400"/>
            <a:ext cx="3081130" cy="556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Country and Capital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647D93-9457-4083-A481-DE09DDF7C7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34"/>
          <a:stretch/>
        </p:blipFill>
        <p:spPr>
          <a:xfrm>
            <a:off x="6672470" y="2705431"/>
            <a:ext cx="4578439" cy="31288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to One</a:t>
            </a:r>
            <a:r>
              <a:rPr dirty="0"/>
              <a:t> </a:t>
            </a:r>
            <a:r>
              <a:rPr lang="en-US" dirty="0"/>
              <a:t>Exercise</a:t>
            </a: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1F92075-D4AE-488F-999F-2570C2F25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414" y="2285467"/>
            <a:ext cx="10838622" cy="3745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two tables in SQLite to represent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one-to-one relationship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Card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 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Person’s unique ID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 → Person’s name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birthdate → Person’s date of birth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IDCard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ID card record ID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card_number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ID card number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unique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Card issue date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person_id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ID of the person associated with this card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one-to-one relationship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2034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to Many</a:t>
            </a:r>
            <a:r>
              <a:rPr dirty="0"/>
              <a:t> Example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3081130" cy="556591"/>
          </a:xfrm>
        </p:spPr>
        <p:txBody>
          <a:bodyPr>
            <a:normAutofit/>
          </a:bodyPr>
          <a:lstStyle/>
          <a:p>
            <a:r>
              <a:rPr lang="en-US" dirty="0"/>
              <a:t>User and Profile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17FA9-F75B-4E06-94F5-23AA7FA3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705431"/>
            <a:ext cx="4578439" cy="312883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16C57A-3E6E-4276-8F33-E341B235BD5E}"/>
              </a:ext>
            </a:extLst>
          </p:cNvPr>
          <p:cNvSpPr txBox="1">
            <a:spLocks/>
          </p:cNvSpPr>
          <p:nvPr/>
        </p:nvSpPr>
        <p:spPr>
          <a:xfrm>
            <a:off x="6672470" y="2057400"/>
            <a:ext cx="3081130" cy="556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Country and Capital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647D93-9457-4083-A481-DE09DDF7C7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34"/>
          <a:stretch/>
        </p:blipFill>
        <p:spPr>
          <a:xfrm>
            <a:off x="6672470" y="2705431"/>
            <a:ext cx="4578439" cy="312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16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to Many</a:t>
            </a:r>
            <a:r>
              <a:rPr dirty="0"/>
              <a:t> </a:t>
            </a:r>
            <a:r>
              <a:rPr lang="en-US" dirty="0"/>
              <a:t>Exercise</a:t>
            </a: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1F92075-D4AE-488F-999F-2570C2F25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414" y="2285467"/>
            <a:ext cx="10838622" cy="3745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two tables in SQLite to represent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one-to-one relationship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Card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 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Person’s unique ID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 → Person’s name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birthdate → Person’s date of birth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IDCard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ID card record ID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card_number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ID card number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unique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Card issue date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person_id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ID of the person associated with this card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one-to-one relationship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43788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to Many</a:t>
            </a:r>
            <a:r>
              <a:rPr dirty="0"/>
              <a:t> Example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3081130" cy="556591"/>
          </a:xfrm>
        </p:spPr>
        <p:txBody>
          <a:bodyPr>
            <a:normAutofit/>
          </a:bodyPr>
          <a:lstStyle/>
          <a:p>
            <a:r>
              <a:rPr lang="en-US" dirty="0"/>
              <a:t>User and Profile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17FA9-F75B-4E06-94F5-23AA7FA3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705431"/>
            <a:ext cx="4578439" cy="312883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16C57A-3E6E-4276-8F33-E341B235BD5E}"/>
              </a:ext>
            </a:extLst>
          </p:cNvPr>
          <p:cNvSpPr txBox="1">
            <a:spLocks/>
          </p:cNvSpPr>
          <p:nvPr/>
        </p:nvSpPr>
        <p:spPr>
          <a:xfrm>
            <a:off x="6672470" y="2057400"/>
            <a:ext cx="3081130" cy="556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Country and Capital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647D93-9457-4083-A481-DE09DDF7C7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34"/>
          <a:stretch/>
        </p:blipFill>
        <p:spPr>
          <a:xfrm>
            <a:off x="6672470" y="2705431"/>
            <a:ext cx="4578439" cy="312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07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to Many</a:t>
            </a:r>
            <a:r>
              <a:rPr dirty="0"/>
              <a:t> </a:t>
            </a:r>
            <a:r>
              <a:rPr lang="en-US" dirty="0"/>
              <a:t>Exercise</a:t>
            </a: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1F92075-D4AE-488F-999F-2570C2F25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414" y="2285467"/>
            <a:ext cx="10838622" cy="3745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two tables in SQLite to represent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one-to-one relationship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Card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 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Person’s unique ID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 → Person’s name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birthdate → Person’s date of birth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IDCard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ID card record ID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card_number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ID card number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unique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Card issue date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person_id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ID of the person associated with this card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one-to-one relationship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912682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745</TotalTime>
  <Words>1047</Words>
  <Application>Microsoft Office PowerPoint</Application>
  <PresentationFormat>Widescreen</PresentationFormat>
  <Paragraphs>171</Paragraphs>
  <Slides>25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Corbel</vt:lpstr>
      <vt:lpstr>Basis</vt:lpstr>
      <vt:lpstr>Databases and SQL</vt:lpstr>
      <vt:lpstr>Introduction to Databases</vt:lpstr>
      <vt:lpstr>Relational Databases (RDBMS)</vt:lpstr>
      <vt:lpstr>Key Concepts in RDBMS</vt:lpstr>
      <vt:lpstr>Types of Relations</vt:lpstr>
      <vt:lpstr>Introduction to SQL</vt:lpstr>
      <vt:lpstr>SQL Categories</vt:lpstr>
      <vt:lpstr>Data Types in SQL</vt:lpstr>
      <vt:lpstr>Numeric Data Types</vt:lpstr>
      <vt:lpstr>Text Data Types</vt:lpstr>
      <vt:lpstr>Date and Time Types</vt:lpstr>
      <vt:lpstr>Constraints</vt:lpstr>
      <vt:lpstr>Creating Tables</vt:lpstr>
      <vt:lpstr>Altering and Dropping Tables</vt:lpstr>
      <vt:lpstr>Inserting Data</vt:lpstr>
      <vt:lpstr>Updating and Deleting Records</vt:lpstr>
      <vt:lpstr>Selecting Data</vt:lpstr>
      <vt:lpstr>Filtering and Sorting</vt:lpstr>
      <vt:lpstr>Types of Relations</vt:lpstr>
      <vt:lpstr>One to One Examples</vt:lpstr>
      <vt:lpstr>One to One Exercise</vt:lpstr>
      <vt:lpstr>One to Many Examples</vt:lpstr>
      <vt:lpstr>One to Many Exercise</vt:lpstr>
      <vt:lpstr>Many to Many Examples</vt:lpstr>
      <vt:lpstr>Many to Many Exercise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subject/>
  <dc:creator/>
  <cp:keywords/>
  <dc:description>generated using python-pptx</dc:description>
  <cp:lastModifiedBy>afsaneh bigdely</cp:lastModifiedBy>
  <cp:revision>17</cp:revision>
  <dcterms:created xsi:type="dcterms:W3CDTF">2013-01-27T09:14:16Z</dcterms:created>
  <dcterms:modified xsi:type="dcterms:W3CDTF">2025-11-24T17:51:15Z</dcterms:modified>
  <cp:category/>
</cp:coreProperties>
</file>