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9" r:id="rId4"/>
    <p:sldId id="283" r:id="rId5"/>
    <p:sldId id="261" r:id="rId6"/>
    <p:sldId id="262" r:id="rId7"/>
    <p:sldId id="263" r:id="rId8"/>
    <p:sldId id="265" r:id="rId9"/>
    <p:sldId id="264" r:id="rId10"/>
    <p:sldId id="284" r:id="rId11"/>
    <p:sldId id="282" r:id="rId12"/>
    <p:sldId id="270" r:id="rId13"/>
    <p:sldId id="286" r:id="rId14"/>
    <p:sldId id="287" r:id="rId15"/>
    <p:sldId id="288" r:id="rId16"/>
    <p:sldId id="289" r:id="rId17"/>
    <p:sldId id="290" r:id="rId18"/>
    <p:sldId id="291" r:id="rId19"/>
    <p:sldId id="306" r:id="rId20"/>
    <p:sldId id="292" r:id="rId21"/>
    <p:sldId id="307" r:id="rId22"/>
    <p:sldId id="308" r:id="rId23"/>
    <p:sldId id="309" r:id="rId24"/>
    <p:sldId id="310" r:id="rId25"/>
    <p:sldId id="293" r:id="rId26"/>
    <p:sldId id="295" r:id="rId27"/>
    <p:sldId id="296" r:id="rId28"/>
    <p:sldId id="297" r:id="rId29"/>
    <p:sldId id="298" r:id="rId30"/>
    <p:sldId id="300" r:id="rId31"/>
    <p:sldId id="301" r:id="rId32"/>
    <p:sldId id="302" r:id="rId33"/>
    <p:sldId id="311" r:id="rId34"/>
    <p:sldId id="312" r:id="rId35"/>
    <p:sldId id="313" r:id="rId36"/>
    <p:sldId id="314" r:id="rId37"/>
    <p:sldId id="315" r:id="rId38"/>
    <p:sldId id="316" r:id="rId39"/>
    <p:sldId id="30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4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53" y="6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9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38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09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92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0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0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4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2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5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3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69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11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2520" y="1834327"/>
            <a:ext cx="9966960" cy="29260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SQLAlchemy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dirty="0"/>
              <a:t>ORM (Object Relational Mapping) allows us to interact with a database using Python objects instead of raw SQL queries.</a:t>
            </a: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0" indent="-182563">
              <a:buFont typeface="Arial" panose="020B0604020202020204" pitchFamily="34" charset="0"/>
              <a:buChar char="•"/>
            </a:pPr>
            <a:r>
              <a:rPr lang="en-US" dirty="0"/>
              <a:t>Simpler syntax</a:t>
            </a:r>
          </a:p>
          <a:p>
            <a:pPr marL="457200" indent="-182563">
              <a:buFont typeface="Arial" panose="020B0604020202020204" pitchFamily="34" charset="0"/>
              <a:buChar char="•"/>
            </a:pPr>
            <a:r>
              <a:rPr lang="en-US" dirty="0"/>
              <a:t>Easier to maintain</a:t>
            </a:r>
          </a:p>
          <a:p>
            <a:pPr marL="457200" indent="-182563">
              <a:buFont typeface="Arial" panose="020B0604020202020204" pitchFamily="34" charset="0"/>
              <a:buChar char="•"/>
            </a:pPr>
            <a:r>
              <a:rPr lang="en-US" dirty="0"/>
              <a:t>Prevents SQL injection and problems</a:t>
            </a:r>
          </a:p>
          <a:p>
            <a:pPr marL="457200" indent="-182563">
              <a:buFont typeface="Arial" panose="020B0604020202020204" pitchFamily="34" charset="0"/>
              <a:buChar char="•"/>
            </a:pPr>
            <a:r>
              <a:rPr lang="en-US" dirty="0"/>
              <a:t>Abstracts away SQL details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SQLAlchemy?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dirty="0" err="1"/>
              <a:t>SQLAlchemy</a:t>
            </a:r>
            <a:r>
              <a:rPr dirty="0"/>
              <a:t> is the most popular ORM library in Python. It provides both a Core (SQL level) and ORM (object level) interface.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F4B0D-EB75-4EF4-A614-A11FAE928E58}"/>
              </a:ext>
            </a:extLst>
          </p:cNvPr>
          <p:cNvSpPr txBox="1"/>
          <p:nvPr/>
        </p:nvSpPr>
        <p:spPr>
          <a:xfrm>
            <a:off x="1176129" y="3340557"/>
            <a:ext cx="609765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pip to install </a:t>
            </a:r>
            <a:r>
              <a:rPr lang="en-US" sz="2000" dirty="0" err="1"/>
              <a:t>SQLAlchemy</a:t>
            </a:r>
            <a:endParaRPr lang="en-US" sz="20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95EB10-00A6-4A4C-84FE-A71E23132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23" y="4491479"/>
            <a:ext cx="3386353" cy="519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746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sz="3600" dirty="0"/>
              <a:t>The Four Fundamental Parts of </a:t>
            </a:r>
            <a:r>
              <a:rPr lang="en-US" sz="3600" dirty="0" err="1"/>
              <a:t>SQLAlchemy</a:t>
            </a:r>
            <a:r>
              <a:rPr lang="en-US" sz="3600" dirty="0"/>
              <a:t> ORM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9131" y="2522914"/>
            <a:ext cx="7053349" cy="2381596"/>
          </a:xfrm>
        </p:spPr>
        <p:txBody>
          <a:bodyPr/>
          <a:lstStyle/>
          <a:p>
            <a:pPr marL="502920" indent="-457200">
              <a:buSzPct val="100000"/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Engine</a:t>
            </a:r>
            <a:r>
              <a:rPr lang="en-US" dirty="0"/>
              <a:t> (the door to the database)</a:t>
            </a:r>
          </a:p>
          <a:p>
            <a:pPr marL="502920" indent="-457200">
              <a:buSzPct val="100000"/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Session</a:t>
            </a:r>
            <a:r>
              <a:rPr lang="en-US" dirty="0"/>
              <a:t> (the brain / memory manager)</a:t>
            </a:r>
          </a:p>
          <a:p>
            <a:pPr marL="502920" indent="-457200">
              <a:buSzPct val="100000"/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Declarative Base </a:t>
            </a:r>
            <a:r>
              <a:rPr lang="en-US" dirty="0"/>
              <a:t>(the class factory)</a:t>
            </a:r>
          </a:p>
          <a:p>
            <a:pPr marL="502920" indent="-457200">
              <a:buSzPct val="100000"/>
              <a:buFont typeface="+mj-lt"/>
              <a:buAutoNum type="arabicPeriod"/>
            </a:pPr>
            <a:r>
              <a:rPr lang="en-US" dirty="0"/>
              <a:t>The ORM </a:t>
            </a:r>
            <a:r>
              <a:rPr lang="en-US" b="1" dirty="0"/>
              <a:t>Mapped Classes </a:t>
            </a:r>
            <a:r>
              <a:rPr lang="en-US" dirty="0"/>
              <a:t>(your data models)</a:t>
            </a:r>
          </a:p>
          <a:p>
            <a:pPr marL="502920" indent="-457200">
              <a:buSzPct val="100000"/>
              <a:buFont typeface="+mj-lt"/>
              <a:buAutoNum type="arabicPeriod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710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a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506896"/>
          </a:xfrm>
        </p:spPr>
        <p:txBody>
          <a:bodyPr/>
          <a:lstStyle/>
          <a:p>
            <a:r>
              <a:rPr dirty="0"/>
              <a:t>The </a:t>
            </a:r>
            <a:r>
              <a:rPr dirty="0" err="1"/>
              <a:t>create_engine</a:t>
            </a:r>
            <a:r>
              <a:rPr dirty="0"/>
              <a:t> function is used to connect to databases.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FF844-8794-4E38-A8A1-DC8578E7339F}"/>
              </a:ext>
            </a:extLst>
          </p:cNvPr>
          <p:cNvSpPr txBox="1"/>
          <p:nvPr/>
        </p:nvSpPr>
        <p:spPr>
          <a:xfrm>
            <a:off x="2397400" y="2770498"/>
            <a:ext cx="7397199" cy="92333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sqlalchemy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create_engine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create_engine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sqlite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:///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example.db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Declaring a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1083365"/>
          </a:xfrm>
        </p:spPr>
        <p:txBody>
          <a:bodyPr/>
          <a:lstStyle/>
          <a:p>
            <a:r>
              <a:rPr dirty="0"/>
              <a:t>All ORM models inherit from a base class.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6961A-F894-4AC3-9ABD-E89766324CF8}"/>
              </a:ext>
            </a:extLst>
          </p:cNvPr>
          <p:cNvSpPr txBox="1"/>
          <p:nvPr/>
        </p:nvSpPr>
        <p:spPr>
          <a:xfrm>
            <a:off x="3048828" y="3104324"/>
            <a:ext cx="6097656" cy="147732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sqlalchemy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DeclarativeBase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DeclarativeBase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C1BB7A-BBE9-4980-BD88-0F46D652C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5698" y="5076811"/>
            <a:ext cx="7600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what tells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“This Python class represents a database table.”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a Model (Table)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516835"/>
          </a:xfrm>
        </p:spPr>
        <p:txBody>
          <a:bodyPr>
            <a:normAutofit/>
          </a:bodyPr>
          <a:lstStyle/>
          <a:p>
            <a:r>
              <a:rPr dirty="0"/>
              <a:t>Each class represents a table in the database.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788BA-F020-4290-A0D1-BEEAE25B6745}"/>
              </a:ext>
            </a:extLst>
          </p:cNvPr>
          <p:cNvSpPr txBox="1"/>
          <p:nvPr/>
        </p:nvSpPr>
        <p:spPr>
          <a:xfrm>
            <a:off x="1933575" y="2688869"/>
            <a:ext cx="8291719" cy="23083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"users"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C06B3E-2B97-4803-855A-2DB1E5C29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358081"/>
            <a:ext cx="603305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creates both:</a:t>
            </a:r>
          </a:p>
          <a:p>
            <a:pPr marL="576263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Python class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76263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table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columns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title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Session()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1034935"/>
          </a:xfrm>
        </p:spPr>
        <p:txBody>
          <a:bodyPr/>
          <a:lstStyle/>
          <a:p>
            <a:r>
              <a:rPr dirty="0"/>
              <a:t>We use Session to add and commit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0FACE-45D2-4295-B157-C1CBF796EDE2}"/>
              </a:ext>
            </a:extLst>
          </p:cNvPr>
          <p:cNvSpPr txBox="1"/>
          <p:nvPr/>
        </p:nvSpPr>
        <p:spPr>
          <a:xfrm>
            <a:off x="6657378" y="3092335"/>
            <a:ext cx="5021100" cy="147732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add_all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FED3DB-5CE7-4D9E-9D29-6A39D63A7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327" y="2991206"/>
            <a:ext cx="69388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Session:</a:t>
            </a:r>
          </a:p>
          <a:p>
            <a:pPr marL="45720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objects</a:t>
            </a:r>
          </a:p>
          <a:p>
            <a:pPr marL="45720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knows which objects are new or deleted</a:t>
            </a:r>
          </a:p>
          <a:p>
            <a:pPr marL="45720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decides when to send SQL to the database</a:t>
            </a:r>
          </a:p>
          <a:p>
            <a:pPr marL="45720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transactions</a:t>
            </a:r>
          </a:p>
          <a:p>
            <a:pPr marL="17145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Analogy:</a:t>
            </a:r>
          </a:p>
          <a:p>
            <a:pPr marL="45720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Session is a shopping cart. You put objects in it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45720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you checkout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it saves everything to the database.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How </a:t>
            </a:r>
            <a:r>
              <a:rPr lang="en-US" sz="4000" dirty="0" err="1"/>
              <a:t>SQLAlchemy</a:t>
            </a:r>
            <a:r>
              <a:rPr lang="en-US" sz="4000" dirty="0"/>
              <a:t> Converts Python to SQL</a:t>
            </a:r>
            <a:endParaRPr sz="40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750A248-8302-42FE-A6B2-09D818D4E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180" y="2397807"/>
            <a:ext cx="825092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create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object. It's not in the database yet.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give it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Session marks it as “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pending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you call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commit()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Session runs something called “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flush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flush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SQL: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database returns the new ID.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puts it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user.id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			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real stored record.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80F028-166A-4342-A04D-457F56C4E7C6}"/>
              </a:ext>
            </a:extLst>
          </p:cNvPr>
          <p:cNvSpPr txBox="1"/>
          <p:nvPr/>
        </p:nvSpPr>
        <p:spPr>
          <a:xfrm>
            <a:off x="2048997" y="3973034"/>
            <a:ext cx="721129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INSERT INTO 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users (name, age) 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Tables in the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Base.metadata.create_all</a:t>
            </a:r>
            <a:r>
              <a:rPr dirty="0"/>
              <a:t>(engine) creates tables in the connected database.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D130D-FF9A-455E-BF45-1B5192F39FFF}"/>
              </a:ext>
            </a:extLst>
          </p:cNvPr>
          <p:cNvSpPr txBox="1"/>
          <p:nvPr/>
        </p:nvSpPr>
        <p:spPr>
          <a:xfrm>
            <a:off x="2658989" y="2701838"/>
            <a:ext cx="6093228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metadata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create_all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C84040-6E0D-449D-9A31-20D9BC64C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164" y="4925390"/>
            <a:ext cx="87828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scans all ORM classes that inherit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Base</a:t>
            </a:r>
            <a:r>
              <a:rPr lang="en-US" altLang="en-US" sz="2000" dirty="0"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generates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 TABLE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statements.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704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A3CF34C-D2FB-4617-8064-04F2A438F0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2551837"/>
            <a:ext cx="955415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SQLAlchemy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create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 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 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should have the following attributes: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→ Person’s unique identifier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 → Person’s full name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Hair_color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Person’s date of birth</a:t>
            </a:r>
          </a:p>
        </p:txBody>
      </p:sp>
    </p:spTree>
    <p:extLst>
      <p:ext uri="{BB962C8B-B14F-4D97-AF65-F5344CB8AC3E}">
        <p14:creationId xmlns:p14="http://schemas.microsoft.com/office/powerpoint/2010/main" val="810312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2750820"/>
            <a:ext cx="9875520" cy="1356360"/>
          </a:xfrm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One-to-One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Relationship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>
                <a:sym typeface="Wingdings" panose="05000000000000000000" pitchFamily="2" charset="2"/>
              </a:rPr>
              <a:t>&lt;-&gt; Profile Example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77A2D-E2AF-4135-901F-71D8B67F1D32}"/>
              </a:ext>
            </a:extLst>
          </p:cNvPr>
          <p:cNvSpPr txBox="1"/>
          <p:nvPr/>
        </p:nvSpPr>
        <p:spPr>
          <a:xfrm>
            <a:off x="1143000" y="2301393"/>
            <a:ext cx="9580418" cy="295225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"users"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nullable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"Profile"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relationship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uselist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</p:spTree>
    <p:extLst>
      <p:ext uri="{BB962C8B-B14F-4D97-AF65-F5344CB8AC3E}">
        <p14:creationId xmlns:p14="http://schemas.microsoft.com/office/powerpoint/2010/main" val="1000691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>
                <a:sym typeface="Wingdings" panose="05000000000000000000" pitchFamily="2" charset="2"/>
              </a:rPr>
              <a:t>&lt;-&gt; Profile Example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77A2D-E2AF-4135-901F-71D8B67F1D32}"/>
              </a:ext>
            </a:extLst>
          </p:cNvPr>
          <p:cNvSpPr txBox="1"/>
          <p:nvPr/>
        </p:nvSpPr>
        <p:spPr>
          <a:xfrm>
            <a:off x="1143000" y="2301393"/>
            <a:ext cx="9580418" cy="23083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"profiles"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Mapped[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Mapped[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"users.id"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Mapped[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relationship(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"profile"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363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>
                <a:sym typeface="Wingdings" panose="05000000000000000000" pitchFamily="2" charset="2"/>
              </a:rPr>
              <a:t>&lt;-&gt; Profile Example (</a:t>
            </a:r>
            <a:r>
              <a:rPr lang="en-US" dirty="0"/>
              <a:t>Key Points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F774F-0251-4972-BD47-5D3990AAA6ED}"/>
              </a:ext>
            </a:extLst>
          </p:cNvPr>
          <p:cNvSpPr txBox="1"/>
          <p:nvPr/>
        </p:nvSpPr>
        <p:spPr>
          <a:xfrm>
            <a:off x="1450571" y="2134584"/>
            <a:ext cx="60932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ForeignKey</a:t>
            </a:r>
            <a:r>
              <a:rPr lang="en-US" dirty="0"/>
              <a:t> on Profile</a:t>
            </a:r>
          </a:p>
          <a:p>
            <a:endParaRPr lang="en-US" dirty="0"/>
          </a:p>
          <a:p>
            <a:r>
              <a:rPr lang="en-US" b="1" dirty="0" err="1"/>
              <a:t>uselist</a:t>
            </a:r>
            <a:r>
              <a:rPr lang="en-US" b="1" dirty="0"/>
              <a:t>=False (VERY IMPORTANT)</a:t>
            </a:r>
          </a:p>
          <a:p>
            <a:endParaRPr lang="en-US" b="1" dirty="0"/>
          </a:p>
          <a:p>
            <a:r>
              <a:rPr lang="en-US" b="1" dirty="0"/>
              <a:t>relationship()</a:t>
            </a:r>
          </a:p>
          <a:p>
            <a:endParaRPr lang="en-US" b="1" dirty="0"/>
          </a:p>
          <a:p>
            <a:r>
              <a:rPr lang="en-US" dirty="0" err="1"/>
              <a:t>back_populates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44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ForeignKey</a:t>
            </a:r>
            <a:r>
              <a:rPr lang="en-US" sz="4400" dirty="0"/>
              <a:t> on 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F774F-0251-4972-BD47-5D3990AAA6ED}"/>
              </a:ext>
            </a:extLst>
          </p:cNvPr>
          <p:cNvSpPr txBox="1"/>
          <p:nvPr/>
        </p:nvSpPr>
        <p:spPr>
          <a:xfrm>
            <a:off x="1450571" y="2134584"/>
            <a:ext cx="60932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table that “belongs to” another table needs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ForeignKey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column: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C7F6E6B-816D-487C-A154-E8B72841F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571" y="4184395"/>
            <a:ext cx="899437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points: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Points to the primary key of the parent table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users.id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this case).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be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unique=True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prevent multiple children from pointing to the same parent.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enforces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one-to-one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the database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652154" y="3210529"/>
            <a:ext cx="859120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"users.id"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961520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uselist</a:t>
            </a:r>
            <a:r>
              <a:rPr lang="en-US" dirty="0"/>
              <a:t>=False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296787" y="2182951"/>
            <a:ext cx="8591203" cy="12003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relationship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uselist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6743DF-13A0-453A-A12A-726C531B7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787" y="4316598"/>
            <a:ext cx="86452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default,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assumes relationships are “lists” (collections)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=False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forces one-to-one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user.profile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returns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object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a list</a:t>
            </a:r>
          </a:p>
        </p:txBody>
      </p:sp>
    </p:spTree>
    <p:extLst>
      <p:ext uri="{BB962C8B-B14F-4D97-AF65-F5344CB8AC3E}">
        <p14:creationId xmlns:p14="http://schemas.microsoft.com/office/powerpoint/2010/main" val="1487355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back_populates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296787" y="2182951"/>
            <a:ext cx="9426631" cy="14773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 User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relationship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"Profile"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uselist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 Profile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relationship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"profile"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3D7B8E-5FFF-4154-897F-6D56C33D2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787" y="4513055"/>
            <a:ext cx="113884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access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ways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user.profile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profile.user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Keeps Python-side objects in sync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 if you want to modify one side and have the other reflect the change.</a:t>
            </a:r>
          </a:p>
        </p:txBody>
      </p:sp>
    </p:spTree>
    <p:extLst>
      <p:ext uri="{BB962C8B-B14F-4D97-AF65-F5344CB8AC3E}">
        <p14:creationId xmlns:p14="http://schemas.microsoft.com/office/powerpoint/2010/main" val="4147046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2505941"/>
            <a:ext cx="9875520" cy="184611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CRUD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One-to-One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Relationship</a:t>
            </a:r>
          </a:p>
        </p:txBody>
      </p:sp>
    </p:spTree>
    <p:extLst>
      <p:ext uri="{BB962C8B-B14F-4D97-AF65-F5344CB8AC3E}">
        <p14:creationId xmlns:p14="http://schemas.microsoft.com/office/powerpoint/2010/main" val="3215445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158240" y="2600046"/>
            <a:ext cx="9875520" cy="23083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alice_profile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full_name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 Wonderland"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"Python dev"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alice_profile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assign profile to user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adding the user automatically adds profile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97956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158240" y="1977016"/>
            <a:ext cx="9875520" cy="36933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Get the profile from the user: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select(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).where(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.username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scalars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.profile.full_name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Alice Wonderland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Get the user from the profile: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select(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).where(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.full_name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 Wonderland"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scalars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.user.username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alice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739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158240" y="2236399"/>
            <a:ext cx="9875520" cy="17543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select(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).where(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.username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scalars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.profile.bio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"Full-stack Python developer"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80448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158240" y="2236399"/>
            <a:ext cx="9875520" cy="20313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select(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).where(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.username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scalars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will remove the user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34966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  <a:endParaRPr 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526C95-22AE-443D-9F5F-6BC157C97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960497"/>
            <a:ext cx="970926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 If you want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also automatically delete the profile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you can add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cascade="all, delete-orphan"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relationship: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18981-BF5C-4A7E-A977-A6FAB430D102}"/>
              </a:ext>
            </a:extLst>
          </p:cNvPr>
          <p:cNvSpPr txBox="1"/>
          <p:nvPr/>
        </p:nvSpPr>
        <p:spPr>
          <a:xfrm>
            <a:off x="1339734" y="2668383"/>
            <a:ext cx="8735291" cy="35086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'users'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nullable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nullable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Profile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relationship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"Profile"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uselist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cascade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"all, delete-orphan"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8616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A3CF34C-D2FB-4617-8064-04F2A438F0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0" y="2297536"/>
            <a:ext cx="955415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SQLAlchemy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create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one-to-one relationship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between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Passport: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 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should have the following attributes: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→ Person’s unique identifier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 → Person’s full name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Hair_color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Person’s date of birth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Passport 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should have the following attributes: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→ Passport record identifier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number → Passport number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unique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issue_date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Passport issue date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person_id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ID of the person who owns this passport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one-to-one relationship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0836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2750820"/>
            <a:ext cx="9875520" cy="1356360"/>
          </a:xfrm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One-to-Many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Relationship</a:t>
            </a:r>
          </a:p>
        </p:txBody>
      </p:sp>
    </p:spTree>
    <p:extLst>
      <p:ext uri="{BB962C8B-B14F-4D97-AF65-F5344CB8AC3E}">
        <p14:creationId xmlns:p14="http://schemas.microsoft.com/office/powerpoint/2010/main" val="2366211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</a:t>
            </a:r>
            <a:r>
              <a:rPr dirty="0"/>
              <a:t> Relationship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User</a:t>
            </a:r>
            <a:r>
              <a:rPr lang="en-US" dirty="0"/>
              <a:t> can have many </a:t>
            </a:r>
            <a:r>
              <a:rPr lang="en-US" b="1" dirty="0"/>
              <a:t>Posts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</a:t>
            </a:r>
            <a:r>
              <a:rPr lang="en-US" b="1" dirty="0"/>
              <a:t>Post</a:t>
            </a:r>
            <a:r>
              <a:rPr lang="en-US" dirty="0"/>
              <a:t> belongs to exactly one </a:t>
            </a:r>
            <a:r>
              <a:rPr lang="en-US" b="1" dirty="0"/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759170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>
                <a:sym typeface="Wingdings" panose="05000000000000000000" pitchFamily="2" charset="2"/>
              </a:rPr>
              <a:t>&lt;-&gt; Posts Example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77A2D-E2AF-4135-901F-71D8B67F1D32}"/>
              </a:ext>
            </a:extLst>
          </p:cNvPr>
          <p:cNvSpPr txBox="1"/>
          <p:nvPr/>
        </p:nvSpPr>
        <p:spPr>
          <a:xfrm>
            <a:off x="1143000" y="2301393"/>
            <a:ext cx="9580418" cy="31393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User Model (1 side)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"users"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nullable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One-to-Many relationship: A user can have many posts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relationship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</p:spTree>
    <p:extLst>
      <p:ext uri="{BB962C8B-B14F-4D97-AF65-F5344CB8AC3E}">
        <p14:creationId xmlns:p14="http://schemas.microsoft.com/office/powerpoint/2010/main" val="3129146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>
                <a:sym typeface="Wingdings" panose="05000000000000000000" pitchFamily="2" charset="2"/>
              </a:rPr>
              <a:t>&lt;-&gt; Posts Example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77A2D-E2AF-4135-901F-71D8B67F1D32}"/>
              </a:ext>
            </a:extLst>
          </p:cNvPr>
          <p:cNvSpPr txBox="1"/>
          <p:nvPr/>
        </p:nvSpPr>
        <p:spPr>
          <a:xfrm>
            <a:off x="1143000" y="2301393"/>
            <a:ext cx="9580418" cy="39703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Post Model (many side)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"posts"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primary_key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Foreign key points to the parent User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"users.id"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Relationship back to User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relationship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"posts"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</p:spTree>
    <p:extLst>
      <p:ext uri="{BB962C8B-B14F-4D97-AF65-F5344CB8AC3E}">
        <p14:creationId xmlns:p14="http://schemas.microsoft.com/office/powerpoint/2010/main" val="1723170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on the </a:t>
            </a:r>
            <a:r>
              <a:rPr lang="en-US" b="1" dirty="0"/>
              <a:t>many side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F774F-0251-4972-BD47-5D3990AAA6ED}"/>
              </a:ext>
            </a:extLst>
          </p:cNvPr>
          <p:cNvSpPr txBox="1"/>
          <p:nvPr/>
        </p:nvSpPr>
        <p:spPr>
          <a:xfrm>
            <a:off x="1652154" y="2334329"/>
            <a:ext cx="8092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table that “belongs to” another table needs a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ForeignKey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column: 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652154" y="3210529"/>
            <a:ext cx="859120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Mapped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mapped_column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"users.id"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EBDE22A-2D17-4918-B6AA-7019594BB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154" y="4286784"/>
            <a:ext cx="754379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unique=True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here — a user can have multiple posts.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818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is no </a:t>
            </a:r>
            <a:r>
              <a:rPr lang="en-US" dirty="0" err="1"/>
              <a:t>uselist</a:t>
            </a:r>
            <a:r>
              <a:rPr lang="en-US" dirty="0"/>
              <a:t>=False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296787" y="2182951"/>
            <a:ext cx="8591203" cy="9233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profile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Mapped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]]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relationship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back_populates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"user“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6743DF-13A0-453A-A12A-726C531B7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787" y="4008821"/>
            <a:ext cx="864523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000" dirty="0"/>
              <a:t>The </a:t>
            </a:r>
            <a:r>
              <a:rPr lang="en-US" sz="2000" b="1" dirty="0"/>
              <a:t>one side</a:t>
            </a:r>
            <a:r>
              <a:rPr lang="en-US" sz="2000" dirty="0"/>
              <a:t> gets a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default, relationships without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=False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user.posts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behaves like a normal Python list.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extend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or iterate over it.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504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back_populates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296787" y="2182951"/>
            <a:ext cx="9426631" cy="14773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In User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kern="120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posts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lang="en-US" sz="1800" b="0" kern="12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Mapped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lang="en-US" sz="1800" b="0" kern="12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List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lang="en-US" sz="1800" b="0" kern="12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lang="en-US" sz="1800" b="0" kern="12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Post</a:t>
            </a:r>
            <a:r>
              <a:rPr lang="en-US" sz="1800" b="0" kern="12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]] </a:t>
            </a:r>
            <a:r>
              <a:rPr lang="en-US" sz="1800" b="0" kern="12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800" b="0" kern="120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relationship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 sz="1800" b="0" kern="120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back_populates</a:t>
            </a:r>
            <a:r>
              <a:rPr lang="en-US" sz="1800" b="0" kern="12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lang="en-US" sz="1800" b="0" kern="12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"user"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lang="en-US" dirty="0">
              <a:effectLst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In Posts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kern="120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lang="en-US" sz="1800" b="0" kern="12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Mapped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lang="en-US" sz="1800" b="0" kern="12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lang="en-US" sz="1800" b="0" kern="120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lang="en-US" sz="1800" b="0" kern="12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] </a:t>
            </a:r>
            <a:r>
              <a:rPr lang="en-US" sz="1800" b="0" kern="12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800" b="0" kern="120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relationship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 sz="1800" b="0" kern="1200" dirty="0" err="1">
                <a:solidFill>
                  <a:srgbClr val="9CDCFE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back_populates</a:t>
            </a:r>
            <a:r>
              <a:rPr lang="en-US" sz="1800" b="0" kern="120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lang="en-US" sz="1800" b="0" kern="120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"posts"</a:t>
            </a:r>
            <a:r>
              <a:rPr lang="en-US" sz="1800" b="0" kern="1200" dirty="0">
                <a:solidFill>
                  <a:srgbClr val="CCCCCC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lang="en-US" dirty="0"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3D7B8E-5FFF-4154-897F-6D56C33D2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787" y="4513055"/>
            <a:ext cx="113884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Enables access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both ways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user.profile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and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profile.user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Keeps Python-side objects in sync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Essential if you want to modify one side and have the other reflect the change.</a:t>
            </a:r>
          </a:p>
        </p:txBody>
      </p:sp>
    </p:spTree>
    <p:extLst>
      <p:ext uri="{BB962C8B-B14F-4D97-AF65-F5344CB8AC3E}">
        <p14:creationId xmlns:p14="http://schemas.microsoft.com/office/powerpoint/2010/main" val="3171242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2505941"/>
            <a:ext cx="9875520" cy="184611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CRUD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One-to-Many</a:t>
            </a: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Relationship</a:t>
            </a:r>
          </a:p>
        </p:txBody>
      </p:sp>
    </p:spTree>
    <p:extLst>
      <p:ext uri="{BB962C8B-B14F-4D97-AF65-F5344CB8AC3E}">
        <p14:creationId xmlns:p14="http://schemas.microsoft.com/office/powerpoint/2010/main" val="2115700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158240" y="2136338"/>
            <a:ext cx="9875520" cy="25853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Post(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 first post"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Post(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"Python Tips"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"Use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SQLAlchemy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2.0 syntax"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.posts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assign posts to user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adds user and posts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72323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173480" y="1830059"/>
            <a:ext cx="8298996" cy="20313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Get the posts from the user: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2A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Session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engine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2A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session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query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select(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).where(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.username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alice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session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scalars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query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first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.posts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	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.content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5A920-F17F-4563-B25B-DA5B6C5B969F}"/>
              </a:ext>
            </a:extLst>
          </p:cNvPr>
          <p:cNvSpPr txBox="1"/>
          <p:nvPr/>
        </p:nvSpPr>
        <p:spPr>
          <a:xfrm>
            <a:off x="1173480" y="4494936"/>
            <a:ext cx="8298996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Get the user of a post:</a:t>
            </a:r>
            <a:endParaRPr lang="en-US" b="0" dirty="0">
              <a:solidFill>
                <a:srgbClr val="CE92A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select(Post).where(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Post.title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scalars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.user.username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alice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811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158240" y="2236399"/>
            <a:ext cx="9875520" cy="17543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2A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Session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engine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2A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session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query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select(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).where(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.username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alice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session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scalars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query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first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.profile.bio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"Full-stack Python developer"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session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commit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22947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10A0-9EC4-4ECF-8A93-8C2E35691F9A}"/>
              </a:ext>
            </a:extLst>
          </p:cNvPr>
          <p:cNvSpPr txBox="1"/>
          <p:nvPr/>
        </p:nvSpPr>
        <p:spPr>
          <a:xfrm>
            <a:off x="1158240" y="2236399"/>
            <a:ext cx="9875520" cy="20313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select(Post).where(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Post.title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"Python Tips"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scalars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73307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  <a:endParaRPr 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526C95-22AE-443D-9F5F-6BC157C97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765905"/>
            <a:ext cx="97092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Delete a user (and optionally cascade delete posts):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18981-BF5C-4A7E-A977-A6FAB430D102}"/>
              </a:ext>
            </a:extLst>
          </p:cNvPr>
          <p:cNvSpPr txBox="1"/>
          <p:nvPr/>
        </p:nvSpPr>
        <p:spPr>
          <a:xfrm>
            <a:off x="1339734" y="2668383"/>
            <a:ext cx="8735291" cy="31393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To automatically delete posts when user is deleted: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user.posts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relationship("Post",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back_populates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="user", cascade="all, delete-orphan")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select(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).where(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.username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scalars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stmt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54887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A3CF34C-D2FB-4617-8064-04F2A438F0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4365" y="1961411"/>
            <a:ext cx="955415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SQLAlchemy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create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one-to-many relationship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between a </a:t>
            </a:r>
            <a:r>
              <a:rPr lang="en-US" altLang="en-US" sz="1800" b="1" dirty="0"/>
              <a:t>teacher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lang="en-US" altLang="en-US" sz="1800" dirty="0"/>
              <a:t>the </a:t>
            </a:r>
            <a:r>
              <a:rPr lang="en-US" altLang="en-US" sz="1800" b="1" dirty="0"/>
              <a:t>students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 Class: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(primary key)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(teacher’s name)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(relationship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table, one-to-many)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Class: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(primary key)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(student’s name)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teacher_id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(foreign key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Teacher.id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teacher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(relationship back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Teacher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33494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324</TotalTime>
  <Words>2409</Words>
  <Application>Microsoft Office PowerPoint</Application>
  <PresentationFormat>Widescreen</PresentationFormat>
  <Paragraphs>293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Arial Unicode MS</vt:lpstr>
      <vt:lpstr>Consolas</vt:lpstr>
      <vt:lpstr>Corbel</vt:lpstr>
      <vt:lpstr>Basis</vt:lpstr>
      <vt:lpstr>SQLAlchemy ORM</vt:lpstr>
      <vt:lpstr>What is ORM?</vt:lpstr>
      <vt:lpstr>What is SQLAlchemy?</vt:lpstr>
      <vt:lpstr>The Four Fundamental Parts of SQLAlchemy ORM</vt:lpstr>
      <vt:lpstr>Connecting to a Database</vt:lpstr>
      <vt:lpstr>Declaring a Base</vt:lpstr>
      <vt:lpstr>Defining a Model (Table)</vt:lpstr>
      <vt:lpstr>Session()</vt:lpstr>
      <vt:lpstr>How SQLAlchemy Converts Python to SQL</vt:lpstr>
      <vt:lpstr>Creating Tables in the Database</vt:lpstr>
      <vt:lpstr>Exercise</vt:lpstr>
      <vt:lpstr>One-to-One Relationship</vt:lpstr>
      <vt:lpstr>User &lt;-&gt; Profile Example</vt:lpstr>
      <vt:lpstr>User &lt;-&gt; Profile Example</vt:lpstr>
      <vt:lpstr>User &lt;-&gt; Profile Example (Key Points)</vt:lpstr>
      <vt:lpstr>ForeignKey on Profile</vt:lpstr>
      <vt:lpstr>uselist=False</vt:lpstr>
      <vt:lpstr>back_populates</vt:lpstr>
      <vt:lpstr>CRUD and One-to-One Relationship</vt:lpstr>
      <vt:lpstr>CREATE</vt:lpstr>
      <vt:lpstr>READ</vt:lpstr>
      <vt:lpstr>UPDATE</vt:lpstr>
      <vt:lpstr>DELETE</vt:lpstr>
      <vt:lpstr>DELETE</vt:lpstr>
      <vt:lpstr>Exercise</vt:lpstr>
      <vt:lpstr>One-to-Many Relationship</vt:lpstr>
      <vt:lpstr>One-to-Many Relationship</vt:lpstr>
      <vt:lpstr>User &lt;-&gt; Posts Example</vt:lpstr>
      <vt:lpstr>User &lt;-&gt; Posts Example</vt:lpstr>
      <vt:lpstr>Foreign key on the many side</vt:lpstr>
      <vt:lpstr>There is no uselist=False</vt:lpstr>
      <vt:lpstr>back_populates</vt:lpstr>
      <vt:lpstr>CRUD and One-to-Many Relationship</vt:lpstr>
      <vt:lpstr>CREATE</vt:lpstr>
      <vt:lpstr>READ</vt:lpstr>
      <vt:lpstr>UPDATE</vt:lpstr>
      <vt:lpstr>DELETE</vt:lpstr>
      <vt:lpstr>DELETE</vt:lpstr>
      <vt:lpstr>Exercise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SQLAlchemy ORM – From Basics to Pre-Intermediate</dc:title>
  <dc:subject/>
  <dc:creator/>
  <cp:keywords/>
  <dc:description>generated using python-pptx</dc:description>
  <cp:lastModifiedBy>afsaneh bigdely</cp:lastModifiedBy>
  <cp:revision>21</cp:revision>
  <dcterms:created xsi:type="dcterms:W3CDTF">2013-01-27T09:14:16Z</dcterms:created>
  <dcterms:modified xsi:type="dcterms:W3CDTF">2025-11-20T09:06:39Z</dcterms:modified>
  <cp:category/>
</cp:coreProperties>
</file>